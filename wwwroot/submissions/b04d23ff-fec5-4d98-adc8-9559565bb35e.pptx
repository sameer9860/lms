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347200" cy="5257800"/>
  <p:notesSz cx="9347200" cy="5257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1516" y="1629918"/>
            <a:ext cx="7950517" cy="1104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03032" y="2944368"/>
            <a:ext cx="6547485" cy="1314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67677" y="1209294"/>
            <a:ext cx="4068794" cy="34701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817078" y="1209294"/>
            <a:ext cx="4068794" cy="34701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4747" y="467836"/>
            <a:ext cx="5426710" cy="477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99B6D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7677" y="1209294"/>
            <a:ext cx="8418195" cy="34701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80207" y="4889754"/>
            <a:ext cx="2993136" cy="26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67677" y="4889754"/>
            <a:ext cx="2151316" cy="26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734556" y="4889754"/>
            <a:ext cx="2151316" cy="26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747" y="1220025"/>
            <a:ext cx="7272020" cy="1297305"/>
          </a:xfrm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 marR="5080">
              <a:lnSpc>
                <a:spcPts val="5100"/>
              </a:lnSpc>
              <a:spcBef>
                <a:spcPts val="10"/>
              </a:spcBef>
            </a:pPr>
            <a:r>
              <a:rPr dirty="0" sz="4100" spc="-35"/>
              <a:t>Introduction</a:t>
            </a:r>
            <a:r>
              <a:rPr dirty="0" sz="4100" spc="-135"/>
              <a:t> </a:t>
            </a:r>
            <a:r>
              <a:rPr dirty="0" sz="4100"/>
              <a:t>to</a:t>
            </a:r>
            <a:r>
              <a:rPr dirty="0" sz="4100" spc="-135"/>
              <a:t> </a:t>
            </a:r>
            <a:r>
              <a:rPr dirty="0" sz="4100" spc="-20"/>
              <a:t>Geographic </a:t>
            </a:r>
            <a:r>
              <a:rPr dirty="0" sz="4100" spc="-40"/>
              <a:t>Information</a:t>
            </a:r>
            <a:r>
              <a:rPr dirty="0" sz="4100" spc="-195"/>
              <a:t> </a:t>
            </a:r>
            <a:r>
              <a:rPr dirty="0" sz="4100" spc="-45"/>
              <a:t>Systems</a:t>
            </a:r>
            <a:r>
              <a:rPr dirty="0" sz="4100" spc="-195"/>
              <a:t> </a:t>
            </a:r>
            <a:r>
              <a:rPr dirty="0" sz="4100" spc="-10"/>
              <a:t>(GIS)</a:t>
            </a:r>
            <a:endParaRPr sz="4100"/>
          </a:p>
        </p:txBody>
      </p:sp>
      <p:sp>
        <p:nvSpPr>
          <p:cNvPr id="3" name="object 3" descr=""/>
          <p:cNvSpPr txBox="1"/>
          <p:nvPr/>
        </p:nvSpPr>
        <p:spPr>
          <a:xfrm>
            <a:off x="514747" y="2636812"/>
            <a:ext cx="8310880" cy="12255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7200"/>
              </a:lnSpc>
              <a:spcBef>
                <a:spcPts val="75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Geographic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Information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Systems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40" b="1">
                <a:solidFill>
                  <a:srgbClr val="E3E5F1"/>
                </a:solidFill>
                <a:latin typeface="Georgia"/>
                <a:cs typeface="Georgia"/>
              </a:rPr>
              <a:t>(GIS)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is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technology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that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empowers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users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visualize,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analyze,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interpret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data.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It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integrates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various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data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formats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produce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insightful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maps.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The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core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components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of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include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hardware,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software,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data,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people,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processes,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each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playing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crucial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role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its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functionality. GIS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is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essential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across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diverse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fields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such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as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urban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planning,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environmental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management,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disaster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response,</a:t>
            </a:r>
            <a:r>
              <a:rPr dirty="0" sz="1150" spc="5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facilitating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informed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decision-making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through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analysis.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44025" cy="5257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4747" y="1134586"/>
            <a:ext cx="3526790" cy="4775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Types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90"/>
              <a:t>GIS</a:t>
            </a:r>
            <a:r>
              <a:rPr dirty="0" spc="-10"/>
              <a:t> </a:t>
            </a:r>
            <a:r>
              <a:rPr dirty="0" spc="-20"/>
              <a:t>Maps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533400" y="1924050"/>
            <a:ext cx="304800" cy="304800"/>
            <a:chOff x="533400" y="1924050"/>
            <a:chExt cx="304800" cy="304800"/>
          </a:xfrm>
        </p:grpSpPr>
        <p:sp>
          <p:nvSpPr>
            <p:cNvPr id="6" name="object 6" descr=""/>
            <p:cNvSpPr/>
            <p:nvPr/>
          </p:nvSpPr>
          <p:spPr>
            <a:xfrm>
              <a:off x="533400" y="19240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38162" y="1928812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295275"/>
                  </a:moveTo>
                  <a:lnTo>
                    <a:pt x="295275" y="295275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20861" y="1951640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60" b="1">
                <a:solidFill>
                  <a:srgbClr val="141414"/>
                </a:solidFill>
                <a:latin typeface="Georgia"/>
                <a:cs typeface="Georgia"/>
              </a:rPr>
              <a:t>1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13915" y="1932590"/>
            <a:ext cx="2088514" cy="17678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Thematic</a:t>
            </a:r>
            <a:r>
              <a:rPr dirty="0" sz="1450" spc="229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20" b="1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8000"/>
              </a:lnSpc>
              <a:spcBef>
                <a:spcPts val="509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These</a:t>
            </a:r>
            <a:r>
              <a:rPr dirty="0" sz="1150" spc="6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r>
              <a:rPr dirty="0" sz="1150" spc="6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focus</a:t>
            </a:r>
            <a:r>
              <a:rPr dirty="0" sz="1150" spc="6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on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specific</a:t>
            </a:r>
            <a:r>
              <a:rPr dirty="0" sz="1150" spc="8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themes</a:t>
            </a:r>
            <a:r>
              <a:rPr dirty="0" sz="1150" spc="8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or</a:t>
            </a:r>
            <a:r>
              <a:rPr dirty="0" sz="1150" spc="8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topics,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such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as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population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density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or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land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use,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providing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insights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into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spatial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patterns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relationships.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362325" y="1924050"/>
            <a:ext cx="304800" cy="304800"/>
            <a:chOff x="3362325" y="1924050"/>
            <a:chExt cx="304800" cy="304800"/>
          </a:xfrm>
        </p:grpSpPr>
        <p:sp>
          <p:nvSpPr>
            <p:cNvPr id="11" name="object 11" descr=""/>
            <p:cNvSpPr/>
            <p:nvPr/>
          </p:nvSpPr>
          <p:spPr>
            <a:xfrm>
              <a:off x="3362325" y="19240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67087" y="1928812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295275"/>
                  </a:moveTo>
                  <a:lnTo>
                    <a:pt x="295275" y="295275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446665" y="1951640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 b="1">
                <a:solidFill>
                  <a:srgbClr val="141414"/>
                </a:solidFill>
                <a:latin typeface="Georgia"/>
                <a:cs typeface="Georgia"/>
              </a:rPr>
              <a:t>2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39717" y="1932590"/>
            <a:ext cx="2094864" cy="200596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Topographic</a:t>
            </a:r>
            <a:r>
              <a:rPr dirty="0" sz="1450" spc="1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20" b="1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7700"/>
              </a:lnSpc>
              <a:spcBef>
                <a:spcPts val="515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Topographic </a:t>
            </a:r>
            <a:r>
              <a:rPr dirty="0" sz="1150" spc="-20" b="1">
                <a:solidFill>
                  <a:srgbClr val="E3E5F1"/>
                </a:solidFill>
                <a:latin typeface="Georgia"/>
                <a:cs typeface="Georgia"/>
              </a:rPr>
              <a:t>maps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represent</a:t>
            </a:r>
            <a:r>
              <a:rPr dirty="0" sz="1150" spc="-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physical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landscape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features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elevations,</a:t>
            </a:r>
            <a:r>
              <a:rPr dirty="0" sz="1150" spc="5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useful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for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understanding</a:t>
            </a:r>
            <a:r>
              <a:rPr dirty="0" sz="1150" spc="1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terrain</a:t>
            </a:r>
            <a:r>
              <a:rPr dirty="0" sz="1150" spc="1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planning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outdoor</a:t>
            </a:r>
            <a:r>
              <a:rPr dirty="0" sz="1150" spc="5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activities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or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constructions.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191250" y="1924050"/>
            <a:ext cx="295275" cy="304800"/>
            <a:chOff x="6191250" y="1924050"/>
            <a:chExt cx="295275" cy="304800"/>
          </a:xfrm>
        </p:grpSpPr>
        <p:sp>
          <p:nvSpPr>
            <p:cNvPr id="16" name="object 16" descr=""/>
            <p:cNvSpPr/>
            <p:nvPr/>
          </p:nvSpPr>
          <p:spPr>
            <a:xfrm>
              <a:off x="6191250" y="1924050"/>
              <a:ext cx="295275" cy="304800"/>
            </a:xfrm>
            <a:custGeom>
              <a:avLst/>
              <a:gdLst/>
              <a:ahLst/>
              <a:cxnLst/>
              <a:rect l="l" t="t" r="r" b="b"/>
              <a:pathLst>
                <a:path w="295275" h="304800">
                  <a:moveTo>
                    <a:pt x="2952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95275" y="304800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96012" y="1928812"/>
              <a:ext cx="285750" cy="295275"/>
            </a:xfrm>
            <a:custGeom>
              <a:avLst/>
              <a:gdLst/>
              <a:ahLst/>
              <a:cxnLst/>
              <a:rect l="l" t="t" r="r" b="b"/>
              <a:pathLst>
                <a:path w="285750" h="295275">
                  <a:moveTo>
                    <a:pt x="0" y="295275"/>
                  </a:moveTo>
                  <a:lnTo>
                    <a:pt x="285750" y="2952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272466" y="1951640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 b="1">
                <a:solidFill>
                  <a:srgbClr val="141414"/>
                </a:solidFill>
                <a:latin typeface="Georgia"/>
                <a:cs typeface="Georgia"/>
              </a:rPr>
              <a:t>3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65518" y="1932590"/>
            <a:ext cx="2088514" cy="200596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Choropleth</a:t>
            </a:r>
            <a:r>
              <a:rPr dirty="0" sz="1450" spc="15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20" b="1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7700"/>
              </a:lnSpc>
              <a:spcBef>
                <a:spcPts val="515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Choropleth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use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0" b="1">
                <a:solidFill>
                  <a:srgbClr val="E3E5F1"/>
                </a:solidFill>
                <a:latin typeface="Georgia"/>
                <a:cs typeface="Georgia"/>
              </a:rPr>
              <a:t>color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coding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represent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0" b="1">
                <a:solidFill>
                  <a:srgbClr val="E3E5F1"/>
                </a:solidFill>
                <a:latin typeface="Georgia"/>
                <a:cs typeface="Georgia"/>
              </a:rPr>
              <a:t>data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values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</a:t>
            </a:r>
            <a:r>
              <a:rPr dirty="0" sz="1150" spc="6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predefined</a:t>
            </a:r>
            <a:r>
              <a:rPr dirty="0" sz="1150" spc="6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areas,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making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it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easy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visualize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demographic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socio-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economic</a:t>
            </a:r>
            <a:r>
              <a:rPr dirty="0" sz="1150" spc="1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information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across</a:t>
            </a:r>
            <a:r>
              <a:rPr dirty="0" sz="1150" spc="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regions.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747" y="867886"/>
            <a:ext cx="4355465" cy="4775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Analyzing</a:t>
            </a:r>
            <a:r>
              <a:rPr dirty="0" spc="-85"/>
              <a:t> </a:t>
            </a:r>
            <a:r>
              <a:rPr dirty="0" spc="-10"/>
              <a:t>Spatial</a:t>
            </a:r>
            <a:r>
              <a:rPr dirty="0" spc="-80"/>
              <a:t> </a:t>
            </a:r>
            <a:r>
              <a:rPr dirty="0" spc="-20"/>
              <a:t>Data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4740" y="1490745"/>
            <a:ext cx="2910264" cy="291046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604793" y="2658649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60" b="1">
                <a:solidFill>
                  <a:srgbClr val="141414"/>
                </a:solidFill>
                <a:latin typeface="Georgia"/>
                <a:cs typeface="Georgia"/>
              </a:rPr>
              <a:t>1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56339" y="2049049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 b="1">
                <a:solidFill>
                  <a:srgbClr val="141414"/>
                </a:solidFill>
                <a:latin typeface="Georgia"/>
                <a:cs typeface="Georgia"/>
              </a:rPr>
              <a:t>2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54066" y="3782599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 b="1">
                <a:solidFill>
                  <a:srgbClr val="141414"/>
                </a:solidFill>
                <a:latin typeface="Georgia"/>
                <a:cs typeface="Georgia"/>
              </a:rPr>
              <a:t>3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5544" y="2380265"/>
            <a:ext cx="2150110" cy="111061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024890" marR="5080" indent="-422275">
              <a:lnSpc>
                <a:spcPct val="103400"/>
              </a:lnSpc>
              <a:spcBef>
                <a:spcPts val="7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dirty="0" sz="1450" spc="5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Analysis Techniques</a:t>
            </a:r>
            <a:endParaRPr sz="1450">
              <a:latin typeface="Georgia"/>
              <a:cs typeface="Georgia"/>
            </a:endParaRPr>
          </a:p>
          <a:p>
            <a:pPr marL="537210" marR="5080" indent="-525145">
              <a:lnSpc>
                <a:spcPct val="135900"/>
              </a:lnSpc>
              <a:spcBef>
                <a:spcPts val="1215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Exploring</a:t>
            </a:r>
            <a:r>
              <a:rPr dirty="0" sz="1150" spc="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relationships</a:t>
            </a:r>
            <a:r>
              <a:rPr dirty="0" sz="1150" spc="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uncovering</a:t>
            </a:r>
            <a:r>
              <a:rPr dirty="0" sz="1150" spc="1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patterns.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85094" y="1713515"/>
            <a:ext cx="2251075" cy="8820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Statistical</a:t>
            </a:r>
            <a:r>
              <a:rPr dirty="0" sz="1450" spc="9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Analysis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1065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Quantifying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relationships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for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predictive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modeling.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85094" y="3275615"/>
            <a:ext cx="126047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Geostatistics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85094" y="3655986"/>
            <a:ext cx="2310765" cy="501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Analyzing</a:t>
            </a:r>
            <a:r>
              <a:rPr dirty="0" sz="1150" spc="6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dirty="0" sz="1150" spc="6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correlations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for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better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predictions.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675" y="0"/>
            <a:ext cx="3181350" cy="52577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4747" y="553561"/>
            <a:ext cx="4304030" cy="4775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Interpreting</a:t>
            </a:r>
            <a:r>
              <a:rPr dirty="0" spc="-175"/>
              <a:t> </a:t>
            </a:r>
            <a:r>
              <a:rPr dirty="0" spc="-90"/>
              <a:t>GIS</a:t>
            </a:r>
            <a:r>
              <a:rPr dirty="0" spc="-100"/>
              <a:t> </a:t>
            </a:r>
            <a:r>
              <a:rPr dirty="0" spc="-20"/>
              <a:t>Maps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533400" y="1343024"/>
            <a:ext cx="304800" cy="295275"/>
            <a:chOff x="533400" y="1343024"/>
            <a:chExt cx="304800" cy="295275"/>
          </a:xfrm>
        </p:grpSpPr>
        <p:sp>
          <p:nvSpPr>
            <p:cNvPr id="6" name="object 6" descr=""/>
            <p:cNvSpPr/>
            <p:nvPr/>
          </p:nvSpPr>
          <p:spPr>
            <a:xfrm>
              <a:off x="533400" y="1343024"/>
              <a:ext cx="304800" cy="295275"/>
            </a:xfrm>
            <a:custGeom>
              <a:avLst/>
              <a:gdLst/>
              <a:ahLst/>
              <a:cxnLst/>
              <a:rect l="l" t="t" r="r" b="b"/>
              <a:pathLst>
                <a:path w="304800" h="295275">
                  <a:moveTo>
                    <a:pt x="3048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04800" y="2952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38162" y="1347787"/>
              <a:ext cx="295275" cy="285750"/>
            </a:xfrm>
            <a:custGeom>
              <a:avLst/>
              <a:gdLst/>
              <a:ahLst/>
              <a:cxnLst/>
              <a:rect l="l" t="t" r="r" b="b"/>
              <a:pathLst>
                <a:path w="295275" h="285750">
                  <a:moveTo>
                    <a:pt x="0" y="285750"/>
                  </a:moveTo>
                  <a:lnTo>
                    <a:pt x="295275" y="285750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20861" y="1370615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60" b="1">
                <a:solidFill>
                  <a:srgbClr val="141414"/>
                </a:solidFill>
                <a:latin typeface="Georgia"/>
                <a:cs typeface="Georgia"/>
              </a:rPr>
              <a:t>1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13915" y="1351565"/>
            <a:ext cx="4561205" cy="7962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Reading</a:t>
            </a:r>
            <a:r>
              <a:rPr dirty="0" sz="14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Map</a:t>
            </a:r>
            <a:r>
              <a:rPr dirty="0" sz="14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Symbols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Understanding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symbols,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colors,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dirty="0" sz="1150" spc="5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legends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is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essential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for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accurately</a:t>
            </a:r>
            <a:r>
              <a:rPr dirty="0" sz="1150" spc="2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interpreting</a:t>
            </a:r>
            <a:r>
              <a:rPr dirty="0" sz="1150" spc="2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0" b="1">
                <a:solidFill>
                  <a:srgbClr val="E3E5F1"/>
                </a:solidFill>
                <a:latin typeface="Georgia"/>
                <a:cs typeface="Georgia"/>
              </a:rPr>
              <a:t>maps.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33400" y="2524125"/>
            <a:ext cx="304800" cy="304800"/>
            <a:chOff x="533400" y="2524125"/>
            <a:chExt cx="304800" cy="304800"/>
          </a:xfrm>
        </p:grpSpPr>
        <p:sp>
          <p:nvSpPr>
            <p:cNvPr id="11" name="object 11" descr=""/>
            <p:cNvSpPr/>
            <p:nvPr/>
          </p:nvSpPr>
          <p:spPr>
            <a:xfrm>
              <a:off x="533400" y="25241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38162" y="252888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295275"/>
                  </a:moveTo>
                  <a:lnTo>
                    <a:pt x="295275" y="295275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20861" y="2561240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 b="1">
                <a:solidFill>
                  <a:srgbClr val="141414"/>
                </a:solidFill>
                <a:latin typeface="Georgia"/>
                <a:cs typeface="Georgia"/>
              </a:rPr>
              <a:t>2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13915" y="2532665"/>
            <a:ext cx="4621530" cy="8058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Identifying</a:t>
            </a:r>
            <a:r>
              <a:rPr dirty="0" sz="1450" spc="204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Patterns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465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Look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for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patterns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trends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within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the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map,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such</a:t>
            </a:r>
            <a:r>
              <a:rPr dirty="0" sz="1150" spc="3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as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clustering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or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dispersion.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33400" y="3714750"/>
            <a:ext cx="304800" cy="295275"/>
            <a:chOff x="533400" y="3714750"/>
            <a:chExt cx="304800" cy="295275"/>
          </a:xfrm>
        </p:grpSpPr>
        <p:sp>
          <p:nvSpPr>
            <p:cNvPr id="16" name="object 16" descr=""/>
            <p:cNvSpPr/>
            <p:nvPr/>
          </p:nvSpPr>
          <p:spPr>
            <a:xfrm>
              <a:off x="533400" y="3714750"/>
              <a:ext cx="304800" cy="295275"/>
            </a:xfrm>
            <a:custGeom>
              <a:avLst/>
              <a:gdLst/>
              <a:ahLst/>
              <a:cxnLst/>
              <a:rect l="l" t="t" r="r" b="b"/>
              <a:pathLst>
                <a:path w="304800" h="295275">
                  <a:moveTo>
                    <a:pt x="3048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04800" y="2952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B6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38162" y="3719512"/>
              <a:ext cx="295275" cy="285750"/>
            </a:xfrm>
            <a:custGeom>
              <a:avLst/>
              <a:gdLst/>
              <a:ahLst/>
              <a:cxnLst/>
              <a:rect l="l" t="t" r="r" b="b"/>
              <a:pathLst>
                <a:path w="295275" h="285750">
                  <a:moveTo>
                    <a:pt x="0" y="285750"/>
                  </a:moveTo>
                  <a:lnTo>
                    <a:pt x="295275" y="285750"/>
                  </a:lnTo>
                  <a:lnTo>
                    <a:pt x="2952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6C9D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20861" y="3742340"/>
            <a:ext cx="1320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 b="1">
                <a:solidFill>
                  <a:srgbClr val="141414"/>
                </a:solidFill>
                <a:latin typeface="Georgia"/>
                <a:cs typeface="Georgia"/>
              </a:rPr>
              <a:t>3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13915" y="3723290"/>
            <a:ext cx="3942079" cy="7962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Making</a:t>
            </a:r>
            <a:r>
              <a:rPr dirty="0" sz="1450" spc="10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Informed</a:t>
            </a:r>
            <a:r>
              <a:rPr dirty="0" sz="1450" spc="10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Decisions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Effective</a:t>
            </a:r>
            <a:r>
              <a:rPr dirty="0" sz="1150" spc="1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interpretation</a:t>
            </a:r>
            <a:r>
              <a:rPr dirty="0" sz="1150" spc="1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of</a:t>
            </a:r>
            <a:r>
              <a:rPr dirty="0" sz="1150" spc="2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dirty="0" sz="1150" spc="1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maps</a:t>
            </a:r>
            <a:r>
              <a:rPr dirty="0" sz="1150" spc="2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aids</a:t>
            </a:r>
            <a:r>
              <a:rPr dirty="0" sz="1150" spc="1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</a:t>
            </a:r>
            <a:r>
              <a:rPr dirty="0" sz="1150" spc="2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making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strategic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decisions.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344025" cy="5257800"/>
          </a:xfrm>
          <a:custGeom>
            <a:avLst/>
            <a:gdLst/>
            <a:ahLst/>
            <a:cxnLst/>
            <a:rect l="l" t="t" r="r" b="b"/>
            <a:pathLst>
              <a:path w="9344025" h="5257800">
                <a:moveTo>
                  <a:pt x="9344025" y="0"/>
                </a:moveTo>
                <a:lnTo>
                  <a:pt x="0" y="0"/>
                </a:lnTo>
                <a:lnTo>
                  <a:pt x="0" y="5257800"/>
                </a:lnTo>
                <a:lnTo>
                  <a:pt x="9344025" y="5257800"/>
                </a:lnTo>
                <a:lnTo>
                  <a:pt x="9344025" y="0"/>
                </a:lnTo>
                <a:close/>
              </a:path>
            </a:pathLst>
          </a:custGeom>
          <a:solidFill>
            <a:srgbClr val="282B3B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Applications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90"/>
              <a:t>GIS</a:t>
            </a:r>
            <a:r>
              <a:rPr dirty="0" spc="-50"/>
              <a:t> </a:t>
            </a:r>
            <a:r>
              <a:rPr dirty="0" spc="-10"/>
              <a:t>Analysis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181099"/>
            <a:ext cx="2447925" cy="1609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99591" y="2932715"/>
            <a:ext cx="2266315" cy="17678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Urban</a:t>
            </a:r>
            <a:r>
              <a:rPr dirty="0" sz="1450" spc="2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Planning</a:t>
            </a:r>
            <a:endParaRPr sz="1450">
              <a:latin typeface="Georgia"/>
              <a:cs typeface="Georgia"/>
            </a:endParaRPr>
          </a:p>
          <a:p>
            <a:pPr algn="ctr" marL="12700" marR="5080">
              <a:lnSpc>
                <a:spcPct val="138000"/>
              </a:lnSpc>
              <a:spcBef>
                <a:spcPts val="509"/>
              </a:spcBef>
            </a:pP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dirty="0" sz="1150" spc="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analysis</a:t>
            </a:r>
            <a:r>
              <a:rPr dirty="0" sz="1150" spc="1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helps</a:t>
            </a:r>
            <a:r>
              <a:rPr dirty="0" sz="1150" spc="1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urban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planners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visualize</a:t>
            </a:r>
            <a:r>
              <a:rPr dirty="0" sz="1150" spc="5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land</a:t>
            </a:r>
            <a:r>
              <a:rPr dirty="0" sz="1150" spc="5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0" b="1">
                <a:solidFill>
                  <a:srgbClr val="E3E5F1"/>
                </a:solidFill>
                <a:latin typeface="Georgia"/>
                <a:cs typeface="Georgia"/>
              </a:rPr>
              <a:t>use,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transportation</a:t>
            </a:r>
            <a:r>
              <a:rPr dirty="0" sz="1150" spc="-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networks,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population</a:t>
            </a:r>
            <a:r>
              <a:rPr dirty="0" sz="1150" spc="6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distribution,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leading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to</a:t>
            </a:r>
            <a:r>
              <a:rPr dirty="0" sz="1150" spc="5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better</a:t>
            </a:r>
            <a:r>
              <a:rPr dirty="0" sz="1150" spc="4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planning outcomes.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8050" y="1181099"/>
            <a:ext cx="2447925" cy="1609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543397" y="2920561"/>
            <a:ext cx="2255520" cy="177101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00050" marR="392430">
              <a:lnSpc>
                <a:spcPct val="107800"/>
              </a:lnSpc>
              <a:spcBef>
                <a:spcPts val="90"/>
              </a:spcBef>
            </a:pP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Environmental Management</a:t>
            </a:r>
            <a:endParaRPr sz="1450">
              <a:latin typeface="Georgia"/>
              <a:cs typeface="Georgia"/>
            </a:endParaRPr>
          </a:p>
          <a:p>
            <a:pPr algn="ctr" marL="12065" marR="5080">
              <a:lnSpc>
                <a:spcPct val="137200"/>
              </a:lnSpc>
              <a:spcBef>
                <a:spcPts val="525"/>
              </a:spcBef>
            </a:pP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 is</a:t>
            </a:r>
            <a:r>
              <a:rPr dirty="0" sz="1150" spc="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utilized for</a:t>
            </a:r>
            <a:r>
              <a:rPr dirty="0" sz="1150" spc="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monitoring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environmental</a:t>
            </a:r>
            <a:r>
              <a:rPr dirty="0" sz="1150" spc="6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changes,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assessing</a:t>
            </a:r>
            <a:r>
              <a:rPr dirty="0" sz="1150" spc="2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natural</a:t>
            </a:r>
            <a:r>
              <a:rPr dirty="0" sz="1150" spc="2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resources,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and</a:t>
            </a:r>
            <a:r>
              <a:rPr dirty="0" sz="1150" spc="7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managing</a:t>
            </a:r>
            <a:r>
              <a:rPr dirty="0" sz="1150" spc="8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conservation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efforts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effectively.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181099"/>
            <a:ext cx="2447925" cy="160972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352827" y="2932715"/>
            <a:ext cx="2313305" cy="15297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450" b="1">
                <a:solidFill>
                  <a:srgbClr val="E3E5F1"/>
                </a:solidFill>
                <a:latin typeface="Georgia"/>
                <a:cs typeface="Georgia"/>
              </a:rPr>
              <a:t>Public</a:t>
            </a:r>
            <a:r>
              <a:rPr dirty="0" sz="1450" spc="18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450" spc="-10" b="1">
                <a:solidFill>
                  <a:srgbClr val="E3E5F1"/>
                </a:solidFill>
                <a:latin typeface="Georgia"/>
                <a:cs typeface="Georgia"/>
              </a:rPr>
              <a:t>Health</a:t>
            </a:r>
            <a:endParaRPr sz="1450">
              <a:latin typeface="Georgia"/>
              <a:cs typeface="Georgia"/>
            </a:endParaRPr>
          </a:p>
          <a:p>
            <a:pPr algn="ctr" marL="12700" marR="5080">
              <a:lnSpc>
                <a:spcPct val="138600"/>
              </a:lnSpc>
              <a:spcBef>
                <a:spcPts val="505"/>
              </a:spcBef>
            </a:pP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GIS</a:t>
            </a:r>
            <a:r>
              <a:rPr dirty="0" sz="1150" spc="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aids</a:t>
            </a:r>
            <a:r>
              <a:rPr dirty="0" sz="1150" spc="1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in</a:t>
            </a:r>
            <a:r>
              <a:rPr dirty="0" sz="1150" spc="1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tracking</a:t>
            </a:r>
            <a:r>
              <a:rPr dirty="0" sz="1150" spc="1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disease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outbreaks,</a:t>
            </a:r>
            <a:r>
              <a:rPr dirty="0" sz="1150" spc="7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analyzing</a:t>
            </a:r>
            <a:r>
              <a:rPr dirty="0" sz="1150" spc="7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health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services</a:t>
            </a:r>
            <a:r>
              <a:rPr dirty="0" sz="1150" spc="7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accessibility,</a:t>
            </a:r>
            <a:r>
              <a:rPr dirty="0" sz="1150" spc="7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5" b="1">
                <a:solidFill>
                  <a:srgbClr val="E3E5F1"/>
                </a:solidFill>
                <a:latin typeface="Georgia"/>
                <a:cs typeface="Georgia"/>
              </a:rPr>
              <a:t>and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planning</a:t>
            </a:r>
            <a:r>
              <a:rPr dirty="0" sz="1150" spc="9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health</a:t>
            </a:r>
            <a:r>
              <a:rPr dirty="0" sz="1150" spc="9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10" b="1">
                <a:solidFill>
                  <a:srgbClr val="E3E5F1"/>
                </a:solidFill>
                <a:latin typeface="Georgia"/>
                <a:cs typeface="Georgia"/>
              </a:rPr>
              <a:t>interventions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based</a:t>
            </a:r>
            <a:r>
              <a:rPr dirty="0" sz="1150" spc="35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on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b="1">
                <a:solidFill>
                  <a:srgbClr val="E3E5F1"/>
                </a:solidFill>
                <a:latin typeface="Georgia"/>
                <a:cs typeface="Georgia"/>
              </a:rPr>
              <a:t>spatial</a:t>
            </a:r>
            <a:r>
              <a:rPr dirty="0" sz="1150" spc="40" b="1">
                <a:solidFill>
                  <a:srgbClr val="E3E5F1"/>
                </a:solidFill>
                <a:latin typeface="Georgia"/>
                <a:cs typeface="Georgia"/>
              </a:rPr>
              <a:t> </a:t>
            </a:r>
            <a:r>
              <a:rPr dirty="0" sz="1150" spc="-20" b="1">
                <a:solidFill>
                  <a:srgbClr val="E3E5F1"/>
                </a:solidFill>
                <a:latin typeface="Georgia"/>
                <a:cs typeface="Georgia"/>
              </a:rPr>
              <a:t>data.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2025-07-04T01:26:29Z</dcterms:created>
  <dcterms:modified xsi:type="dcterms:W3CDTF">2025-07-04T01:26:29Z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2025-07-04T00:00:00Z</vt:filetime>
  </property>
  <property fmtid="{D5CDD505-2E9C-101B-9397-08002B2CF9AE}" pid="5" name="Producer">
    <vt:lpwstr>GPL Ghostscript 9.53.3</vt:lpwstr>
  </property>
</Properties>
</file>