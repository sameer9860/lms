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347200" cy="5257800"/>
  <p:notesSz cx="9347200" cy="5257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15" autoAdjust="0"/>
  </p:normalViewPr>
  <p:slideViewPr>
    <p:cSldViewPr>
      <p:cViewPr varScale="1">
        <p:scale>
          <a:sx n="87" d="100"/>
          <a:sy n="87" d="100"/>
        </p:scale>
        <p:origin x="62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49713" cy="2635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94313" y="0"/>
            <a:ext cx="4051300" cy="2635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32DE0-A0FE-4940-A764-8953F18A01D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657225"/>
            <a:ext cx="3155950" cy="1774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5038" y="2530475"/>
            <a:ext cx="7477125" cy="2070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994275"/>
            <a:ext cx="4049713" cy="2635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94313" y="4994275"/>
            <a:ext cx="4051300" cy="2635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0F168-AA77-496C-9FAF-3D54B28C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6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Focuses on a </a:t>
            </a:r>
            <a:r>
              <a:rPr lang="en-US" b="1" dirty="0"/>
              <a:t>specific theme or topic</a:t>
            </a:r>
            <a:r>
              <a:rPr lang="en-US" dirty="0"/>
              <a:t> (e.g., population, rainfall, literacy).</a:t>
            </a:r>
          </a:p>
          <a:p>
            <a:r>
              <a:rPr lang="en-US" dirty="0"/>
              <a:t>To </a:t>
            </a:r>
            <a:r>
              <a:rPr lang="en-US" b="1" dirty="0"/>
              <a:t>visualize patterns</a:t>
            </a:r>
            <a:r>
              <a:rPr lang="en-US" dirty="0"/>
              <a:t> and </a:t>
            </a:r>
            <a:r>
              <a:rPr lang="en-US" b="1" dirty="0"/>
              <a:t>relationships</a:t>
            </a:r>
            <a:r>
              <a:rPr lang="en-US" dirty="0"/>
              <a:t> across geographic areas.</a:t>
            </a:r>
          </a:p>
          <a:p>
            <a:r>
              <a:rPr lang="en-US" dirty="0"/>
              <a:t>Represents the </a:t>
            </a:r>
            <a:r>
              <a:rPr lang="en-US" b="1" dirty="0"/>
              <a:t>physical features</a:t>
            </a:r>
            <a:r>
              <a:rPr lang="en-US" dirty="0"/>
              <a:t> of the Earth's surface, including elevation.</a:t>
            </a:r>
          </a:p>
          <a:p>
            <a:r>
              <a:rPr lang="en-US" b="1" dirty="0"/>
              <a:t>Contour lines</a:t>
            </a:r>
            <a:r>
              <a:rPr lang="en-US" dirty="0"/>
              <a:t> (show elevation/terrain)</a:t>
            </a:r>
          </a:p>
          <a:p>
            <a:r>
              <a:rPr lang="en-US" dirty="0"/>
              <a:t>Mountains, rivers, valleys, roads</a:t>
            </a:r>
          </a:p>
          <a:p>
            <a:r>
              <a:rPr lang="en-US" dirty="0"/>
              <a:t>A type of </a:t>
            </a:r>
            <a:r>
              <a:rPr lang="en-US" b="1" dirty="0"/>
              <a:t>thematic map</a:t>
            </a:r>
            <a:r>
              <a:rPr lang="en-US" dirty="0"/>
              <a:t> where areas are shaded or colored based on a variable.</a:t>
            </a:r>
          </a:p>
          <a:p>
            <a:r>
              <a:rPr lang="en-US" dirty="0"/>
              <a:t>Uses </a:t>
            </a:r>
            <a:r>
              <a:rPr lang="en-US" b="1" dirty="0"/>
              <a:t>color gradients</a:t>
            </a:r>
            <a:r>
              <a:rPr lang="en-US" dirty="0"/>
              <a:t> to show intensity (e.g., darker = higher value).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F168-AA77-496C-9FAF-3D54B28C71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83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1516" y="1629918"/>
            <a:ext cx="7950517" cy="1104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03032" y="2944368"/>
            <a:ext cx="6547485" cy="1314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67677" y="1209294"/>
            <a:ext cx="4068794" cy="34701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17078" y="1209294"/>
            <a:ext cx="4068794" cy="34701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4747" y="467836"/>
            <a:ext cx="5426710" cy="477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7677" y="1209294"/>
            <a:ext cx="8418195" cy="34701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80207" y="4889754"/>
            <a:ext cx="2993136" cy="262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67677" y="4889754"/>
            <a:ext cx="2151316" cy="262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34556" y="4889754"/>
            <a:ext cx="2151316" cy="262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747" y="1220025"/>
            <a:ext cx="7272020" cy="12973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ts val="5100"/>
              </a:lnSpc>
              <a:spcBef>
                <a:spcPts val="10"/>
              </a:spcBef>
            </a:pPr>
            <a:r>
              <a:rPr sz="4100" spc="-35" dirty="0"/>
              <a:t>Introduction</a:t>
            </a:r>
            <a:r>
              <a:rPr sz="4100" spc="-135" dirty="0"/>
              <a:t> </a:t>
            </a:r>
            <a:r>
              <a:rPr sz="4100" dirty="0"/>
              <a:t>to</a:t>
            </a:r>
            <a:r>
              <a:rPr sz="4100" spc="-135" dirty="0"/>
              <a:t> </a:t>
            </a:r>
            <a:r>
              <a:rPr sz="4100" spc="-20" dirty="0"/>
              <a:t>Geographic </a:t>
            </a:r>
            <a:r>
              <a:rPr sz="4100" spc="-40" dirty="0"/>
              <a:t>Information</a:t>
            </a:r>
            <a:r>
              <a:rPr sz="4100" spc="-195" dirty="0"/>
              <a:t> </a:t>
            </a:r>
            <a:r>
              <a:rPr sz="4100" spc="-45" dirty="0"/>
              <a:t>Systems</a:t>
            </a:r>
            <a:r>
              <a:rPr sz="4100" spc="-195" dirty="0"/>
              <a:t> </a:t>
            </a:r>
            <a:r>
              <a:rPr sz="4100" spc="-10" dirty="0"/>
              <a:t>(GIS)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514747" y="2636812"/>
            <a:ext cx="8310880" cy="12255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37200"/>
              </a:lnSpc>
              <a:spcBef>
                <a:spcPts val="75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Geographic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Information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Systems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40" dirty="0">
                <a:solidFill>
                  <a:srgbClr val="E3E5F1"/>
                </a:solidFill>
                <a:latin typeface="Georgia"/>
                <a:cs typeface="Georgia"/>
              </a:rPr>
              <a:t>(GIS)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is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technology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that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empowers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users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visualize,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analyze,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interpret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data.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It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integrates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various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data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formats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produce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insightful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maps.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The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core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components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of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include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hardware,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software,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data,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people,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processes,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each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playing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crucial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role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its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functionality. GIS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is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essential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across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diverse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fields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such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as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urban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planning,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environmental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management,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disaster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response,</a:t>
            </a:r>
            <a:r>
              <a:rPr sz="1150" b="1" spc="5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facilitating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informed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decision-making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through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analysis.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4747" y="1134586"/>
            <a:ext cx="352679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Types</a:t>
            </a:r>
            <a:r>
              <a:rPr spc="-3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90" dirty="0"/>
              <a:t>GIS</a:t>
            </a:r>
            <a:r>
              <a:rPr spc="-10" dirty="0"/>
              <a:t> </a:t>
            </a:r>
            <a:r>
              <a:rPr spc="-20" dirty="0"/>
              <a:t>Maps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33400" y="1924050"/>
            <a:ext cx="304800" cy="304800"/>
            <a:chOff x="533400" y="1924050"/>
            <a:chExt cx="304800" cy="304800"/>
          </a:xfrm>
        </p:grpSpPr>
        <p:sp>
          <p:nvSpPr>
            <p:cNvPr id="6" name="object 6"/>
            <p:cNvSpPr/>
            <p:nvPr/>
          </p:nvSpPr>
          <p:spPr>
            <a:xfrm>
              <a:off x="533400" y="19240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8162" y="1928812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295275"/>
                  </a:moveTo>
                  <a:lnTo>
                    <a:pt x="295275" y="295275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0861" y="1951640"/>
            <a:ext cx="132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60" dirty="0">
                <a:solidFill>
                  <a:srgbClr val="141414"/>
                </a:solidFill>
                <a:latin typeface="Georgia"/>
                <a:cs typeface="Georgia"/>
              </a:rPr>
              <a:t>1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3915" y="1932590"/>
            <a:ext cx="2088514" cy="17678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Thematic</a:t>
            </a:r>
            <a:r>
              <a:rPr sz="1450" b="1" spc="229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endParaRPr sz="1450" dirty="0">
              <a:latin typeface="Georgia"/>
              <a:cs typeface="Georgia"/>
            </a:endParaRPr>
          </a:p>
          <a:p>
            <a:pPr marL="12700" marR="5080">
              <a:lnSpc>
                <a:spcPct val="138000"/>
              </a:lnSpc>
              <a:spcBef>
                <a:spcPts val="509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These</a:t>
            </a:r>
            <a:r>
              <a:rPr sz="1150" b="1" spc="6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r>
              <a:rPr sz="1150" b="1" spc="6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focus</a:t>
            </a:r>
            <a:r>
              <a:rPr sz="1150" b="1" spc="6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on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specific</a:t>
            </a:r>
            <a:r>
              <a:rPr sz="1150" b="1" spc="8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themes</a:t>
            </a:r>
            <a:r>
              <a:rPr sz="1150" b="1" spc="8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or</a:t>
            </a:r>
            <a:r>
              <a:rPr sz="1150" b="1" spc="8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topics,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such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as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population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density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or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land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use,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providing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insights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into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spatial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patterns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relationships.</a:t>
            </a:r>
            <a:endParaRPr sz="1150" dirty="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62325" y="1924050"/>
            <a:ext cx="304800" cy="304800"/>
            <a:chOff x="3362325" y="1924050"/>
            <a:chExt cx="304800" cy="304800"/>
          </a:xfrm>
        </p:grpSpPr>
        <p:sp>
          <p:nvSpPr>
            <p:cNvPr id="11" name="object 11"/>
            <p:cNvSpPr/>
            <p:nvPr/>
          </p:nvSpPr>
          <p:spPr>
            <a:xfrm>
              <a:off x="3362325" y="19240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67087" y="1928812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295275"/>
                  </a:moveTo>
                  <a:lnTo>
                    <a:pt x="295275" y="295275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46665" y="1951640"/>
            <a:ext cx="132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141414"/>
                </a:solidFill>
                <a:latin typeface="Georgia"/>
                <a:cs typeface="Georgia"/>
              </a:rPr>
              <a:t>2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9717" y="1932590"/>
            <a:ext cx="2094864" cy="20059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Topographic</a:t>
            </a:r>
            <a:r>
              <a:rPr sz="1450" b="1" spc="1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endParaRPr sz="1450" dirty="0">
              <a:latin typeface="Georgia"/>
              <a:cs typeface="Georgia"/>
            </a:endParaRPr>
          </a:p>
          <a:p>
            <a:pPr marL="12700" marR="5080">
              <a:lnSpc>
                <a:spcPct val="137700"/>
              </a:lnSpc>
              <a:spcBef>
                <a:spcPts val="515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Topographic </a:t>
            </a:r>
            <a:r>
              <a:rPr sz="1150" b="1" spc="-20" dirty="0">
                <a:solidFill>
                  <a:srgbClr val="E3E5F1"/>
                </a:solidFill>
                <a:latin typeface="Georgia"/>
                <a:cs typeface="Georgia"/>
              </a:rPr>
              <a:t>maps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represent</a:t>
            </a:r>
            <a:r>
              <a:rPr sz="1150" b="1" spc="-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physical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landscape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features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elevations,</a:t>
            </a:r>
            <a:r>
              <a:rPr sz="1150" b="1" spc="5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useful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for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understanding</a:t>
            </a:r>
            <a:r>
              <a:rPr sz="1150" b="1" spc="1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terrain</a:t>
            </a:r>
            <a:r>
              <a:rPr sz="1150" b="1" spc="1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planning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outdoor</a:t>
            </a:r>
            <a:r>
              <a:rPr sz="1150" b="1" spc="5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activities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or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constructions.</a:t>
            </a:r>
            <a:endParaRPr sz="1150" dirty="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50" y="1924050"/>
            <a:ext cx="295275" cy="304800"/>
            <a:chOff x="6191250" y="1924050"/>
            <a:chExt cx="295275" cy="304800"/>
          </a:xfrm>
        </p:grpSpPr>
        <p:sp>
          <p:nvSpPr>
            <p:cNvPr id="16" name="object 16"/>
            <p:cNvSpPr/>
            <p:nvPr/>
          </p:nvSpPr>
          <p:spPr>
            <a:xfrm>
              <a:off x="6191250" y="1924050"/>
              <a:ext cx="295275" cy="304800"/>
            </a:xfrm>
            <a:custGeom>
              <a:avLst/>
              <a:gdLst/>
              <a:ahLst/>
              <a:cxnLst/>
              <a:rect l="l" t="t" r="r" b="b"/>
              <a:pathLst>
                <a:path w="295275" h="304800">
                  <a:moveTo>
                    <a:pt x="2952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95275" y="304800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6012" y="1928812"/>
              <a:ext cx="285750" cy="295275"/>
            </a:xfrm>
            <a:custGeom>
              <a:avLst/>
              <a:gdLst/>
              <a:ahLst/>
              <a:cxnLst/>
              <a:rect l="l" t="t" r="r" b="b"/>
              <a:pathLst>
                <a:path w="285750" h="295275">
                  <a:moveTo>
                    <a:pt x="0" y="295275"/>
                  </a:moveTo>
                  <a:lnTo>
                    <a:pt x="285750" y="2952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72466" y="1951640"/>
            <a:ext cx="132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141414"/>
                </a:solidFill>
                <a:latin typeface="Georgia"/>
                <a:cs typeface="Georgia"/>
              </a:rPr>
              <a:t>3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65518" y="1932590"/>
            <a:ext cx="2088514" cy="20059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Choropleth</a:t>
            </a:r>
            <a:r>
              <a:rPr sz="1450" b="1" spc="15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7700"/>
              </a:lnSpc>
              <a:spcBef>
                <a:spcPts val="515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Choropleth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use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0" dirty="0">
                <a:solidFill>
                  <a:srgbClr val="E3E5F1"/>
                </a:solidFill>
                <a:latin typeface="Georgia"/>
                <a:cs typeface="Georgia"/>
              </a:rPr>
              <a:t>color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coding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represent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0" dirty="0">
                <a:solidFill>
                  <a:srgbClr val="E3E5F1"/>
                </a:solidFill>
                <a:latin typeface="Georgia"/>
                <a:cs typeface="Georgia"/>
              </a:rPr>
              <a:t>data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values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</a:t>
            </a:r>
            <a:r>
              <a:rPr sz="1150" b="1" spc="6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predefined</a:t>
            </a:r>
            <a:r>
              <a:rPr sz="1150" b="1" spc="6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areas,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making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it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easy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visualize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demographic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socio-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economic</a:t>
            </a:r>
            <a:r>
              <a:rPr sz="1150" b="1" spc="1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information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across</a:t>
            </a:r>
            <a:r>
              <a:rPr sz="1150" b="1" spc="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regions.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747" y="867886"/>
            <a:ext cx="435546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Analyzing</a:t>
            </a:r>
            <a:r>
              <a:rPr spc="-85" dirty="0"/>
              <a:t> </a:t>
            </a:r>
            <a:r>
              <a:rPr spc="-10" dirty="0"/>
              <a:t>Spatial</a:t>
            </a:r>
            <a:r>
              <a:rPr spc="-80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4740" y="1490745"/>
            <a:ext cx="2910264" cy="29104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04793" y="2658649"/>
            <a:ext cx="132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60" dirty="0">
                <a:solidFill>
                  <a:srgbClr val="141414"/>
                </a:solidFill>
                <a:latin typeface="Georgia"/>
                <a:cs typeface="Georgia"/>
              </a:rPr>
              <a:t>1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6339" y="2049049"/>
            <a:ext cx="132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141414"/>
                </a:solidFill>
                <a:latin typeface="Georgia"/>
                <a:cs typeface="Georgia"/>
              </a:rPr>
              <a:t>2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4066" y="3782599"/>
            <a:ext cx="132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141414"/>
                </a:solidFill>
                <a:latin typeface="Georgia"/>
                <a:cs typeface="Georgia"/>
              </a:rPr>
              <a:t>3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5544" y="2380265"/>
            <a:ext cx="2150110" cy="111061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024890" marR="5080" indent="-422275">
              <a:lnSpc>
                <a:spcPct val="103400"/>
              </a:lnSpc>
              <a:spcBef>
                <a:spcPts val="7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sz="1450" b="1" spc="5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E3E5F1"/>
                </a:solidFill>
                <a:latin typeface="Georgia"/>
                <a:cs typeface="Georgia"/>
              </a:rPr>
              <a:t>Analysis Techniques</a:t>
            </a:r>
            <a:endParaRPr sz="1450" dirty="0">
              <a:latin typeface="Georgia"/>
              <a:cs typeface="Georgia"/>
            </a:endParaRPr>
          </a:p>
          <a:p>
            <a:pPr marL="537210" marR="5080" indent="-525145">
              <a:lnSpc>
                <a:spcPct val="135900"/>
              </a:lnSpc>
              <a:spcBef>
                <a:spcPts val="1215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Exploring</a:t>
            </a:r>
            <a:r>
              <a:rPr sz="1150" b="1" spc="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relationships</a:t>
            </a:r>
            <a:r>
              <a:rPr sz="1150" b="1" spc="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uncovering</a:t>
            </a:r>
            <a:r>
              <a:rPr sz="1150" b="1" spc="1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patterns.</a:t>
            </a:r>
            <a:endParaRPr sz="1150" dirty="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5094" y="1713515"/>
            <a:ext cx="2251075" cy="882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Statistical</a:t>
            </a:r>
            <a:r>
              <a:rPr sz="1450" b="1" spc="9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E3E5F1"/>
                </a:solidFill>
                <a:latin typeface="Georgia"/>
                <a:cs typeface="Georgia"/>
              </a:rPr>
              <a:t>Analysis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41300"/>
              </a:lnSpc>
              <a:spcBef>
                <a:spcPts val="1065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Quantifying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relationships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for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predictive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modeling.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5094" y="3275615"/>
            <a:ext cx="126047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10" dirty="0">
                <a:solidFill>
                  <a:srgbClr val="E3E5F1"/>
                </a:solidFill>
                <a:latin typeface="Georgia"/>
                <a:cs typeface="Georgia"/>
              </a:rPr>
              <a:t>Geostatistics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5094" y="3655986"/>
            <a:ext cx="2310765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Analyzing</a:t>
            </a:r>
            <a:r>
              <a:rPr sz="1150" b="1" spc="6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sz="1150" b="1" spc="6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correlations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for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better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predictions.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675" y="0"/>
            <a:ext cx="3181350" cy="52577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4747" y="553561"/>
            <a:ext cx="430403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Interpreting</a:t>
            </a:r>
            <a:r>
              <a:rPr spc="-175" dirty="0"/>
              <a:t> </a:t>
            </a:r>
            <a:r>
              <a:rPr spc="-90" dirty="0"/>
              <a:t>GIS</a:t>
            </a:r>
            <a:r>
              <a:rPr spc="-100" dirty="0"/>
              <a:t> </a:t>
            </a:r>
            <a:r>
              <a:rPr spc="-20" dirty="0"/>
              <a:t>Maps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33400" y="1343024"/>
            <a:ext cx="304800" cy="295275"/>
            <a:chOff x="533400" y="1343024"/>
            <a:chExt cx="304800" cy="295275"/>
          </a:xfrm>
        </p:grpSpPr>
        <p:sp>
          <p:nvSpPr>
            <p:cNvPr id="6" name="object 6"/>
            <p:cNvSpPr/>
            <p:nvPr/>
          </p:nvSpPr>
          <p:spPr>
            <a:xfrm>
              <a:off x="533400" y="1343024"/>
              <a:ext cx="304800" cy="295275"/>
            </a:xfrm>
            <a:custGeom>
              <a:avLst/>
              <a:gdLst/>
              <a:ahLst/>
              <a:cxnLst/>
              <a:rect l="l" t="t" r="r" b="b"/>
              <a:pathLst>
                <a:path w="304800" h="295275">
                  <a:moveTo>
                    <a:pt x="3048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04800" y="2952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8162" y="1347787"/>
              <a:ext cx="295275" cy="285750"/>
            </a:xfrm>
            <a:custGeom>
              <a:avLst/>
              <a:gdLst/>
              <a:ahLst/>
              <a:cxnLst/>
              <a:rect l="l" t="t" r="r" b="b"/>
              <a:pathLst>
                <a:path w="295275" h="285750">
                  <a:moveTo>
                    <a:pt x="0" y="285750"/>
                  </a:moveTo>
                  <a:lnTo>
                    <a:pt x="295275" y="285750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0861" y="1370615"/>
            <a:ext cx="132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60" dirty="0">
                <a:solidFill>
                  <a:srgbClr val="141414"/>
                </a:solidFill>
                <a:latin typeface="Georgia"/>
                <a:cs typeface="Georgia"/>
              </a:rPr>
              <a:t>1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3915" y="1351565"/>
            <a:ext cx="4561205" cy="7962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Reading</a:t>
            </a:r>
            <a:r>
              <a:rPr sz="14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Map</a:t>
            </a:r>
            <a:r>
              <a:rPr sz="14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E3E5F1"/>
                </a:solidFill>
                <a:latin typeface="Georgia"/>
                <a:cs typeface="Georgia"/>
              </a:rPr>
              <a:t>Symbols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Understanding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symbols,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colors,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sz="1150" b="1" spc="5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legends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is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essential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for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accurately</a:t>
            </a:r>
            <a:r>
              <a:rPr sz="1150" b="1" spc="2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interpreting</a:t>
            </a:r>
            <a:r>
              <a:rPr sz="1150" b="1" spc="2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0" dirty="0">
                <a:solidFill>
                  <a:srgbClr val="E3E5F1"/>
                </a:solidFill>
                <a:latin typeface="Georgia"/>
                <a:cs typeface="Georgia"/>
              </a:rPr>
              <a:t>maps.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3400" y="2524125"/>
            <a:ext cx="304800" cy="304800"/>
            <a:chOff x="533400" y="2524125"/>
            <a:chExt cx="304800" cy="304800"/>
          </a:xfrm>
        </p:grpSpPr>
        <p:sp>
          <p:nvSpPr>
            <p:cNvPr id="11" name="object 11"/>
            <p:cNvSpPr/>
            <p:nvPr/>
          </p:nvSpPr>
          <p:spPr>
            <a:xfrm>
              <a:off x="533400" y="25241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8162" y="252888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295275"/>
                  </a:moveTo>
                  <a:lnTo>
                    <a:pt x="295275" y="295275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0861" y="2561240"/>
            <a:ext cx="132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141414"/>
                </a:solidFill>
                <a:latin typeface="Georgia"/>
                <a:cs typeface="Georgia"/>
              </a:rPr>
              <a:t>2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3915" y="2532665"/>
            <a:ext cx="4621530" cy="805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Identifying</a:t>
            </a:r>
            <a:r>
              <a:rPr sz="1450" b="1" spc="204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E3E5F1"/>
                </a:solidFill>
                <a:latin typeface="Georgia"/>
                <a:cs typeface="Georgia"/>
              </a:rPr>
              <a:t>Patterns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41300"/>
              </a:lnSpc>
              <a:spcBef>
                <a:spcPts val="465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Look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for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patterns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trends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within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the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map,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such</a:t>
            </a:r>
            <a:r>
              <a:rPr sz="1150" b="1" spc="3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as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clustering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or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dispersion.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3400" y="3714750"/>
            <a:ext cx="304800" cy="295275"/>
            <a:chOff x="533400" y="3714750"/>
            <a:chExt cx="304800" cy="295275"/>
          </a:xfrm>
        </p:grpSpPr>
        <p:sp>
          <p:nvSpPr>
            <p:cNvPr id="16" name="object 16"/>
            <p:cNvSpPr/>
            <p:nvPr/>
          </p:nvSpPr>
          <p:spPr>
            <a:xfrm>
              <a:off x="533400" y="3714750"/>
              <a:ext cx="304800" cy="295275"/>
            </a:xfrm>
            <a:custGeom>
              <a:avLst/>
              <a:gdLst/>
              <a:ahLst/>
              <a:cxnLst/>
              <a:rect l="l" t="t" r="r" b="b"/>
              <a:pathLst>
                <a:path w="304800" h="295275">
                  <a:moveTo>
                    <a:pt x="3048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04800" y="2952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162" y="3719512"/>
              <a:ext cx="295275" cy="285750"/>
            </a:xfrm>
            <a:custGeom>
              <a:avLst/>
              <a:gdLst/>
              <a:ahLst/>
              <a:cxnLst/>
              <a:rect l="l" t="t" r="r" b="b"/>
              <a:pathLst>
                <a:path w="295275" h="285750">
                  <a:moveTo>
                    <a:pt x="0" y="285750"/>
                  </a:moveTo>
                  <a:lnTo>
                    <a:pt x="295275" y="285750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0861" y="3742340"/>
            <a:ext cx="1320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141414"/>
                </a:solidFill>
                <a:latin typeface="Georgia"/>
                <a:cs typeface="Georgia"/>
              </a:rPr>
              <a:t>3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3915" y="3723290"/>
            <a:ext cx="3942079" cy="7962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Making</a:t>
            </a:r>
            <a:r>
              <a:rPr sz="1450" b="1" spc="10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Informed</a:t>
            </a:r>
            <a:r>
              <a:rPr sz="1450" b="1" spc="10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E3E5F1"/>
                </a:solidFill>
                <a:latin typeface="Georgia"/>
                <a:cs typeface="Georgia"/>
              </a:rPr>
              <a:t>Decisions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Effective</a:t>
            </a:r>
            <a:r>
              <a:rPr sz="1150" b="1" spc="1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interpretation</a:t>
            </a:r>
            <a:r>
              <a:rPr sz="1150" b="1" spc="1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of</a:t>
            </a:r>
            <a:r>
              <a:rPr sz="1150" b="1" spc="2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sz="1150" b="1" spc="1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r>
              <a:rPr sz="1150" b="1" spc="2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aids</a:t>
            </a:r>
            <a:r>
              <a:rPr sz="1150" b="1" spc="1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</a:t>
            </a:r>
            <a:r>
              <a:rPr sz="1150" b="1" spc="2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making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strategic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decisions.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Applications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90" dirty="0"/>
              <a:t>GIS</a:t>
            </a:r>
            <a:r>
              <a:rPr spc="-5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181099"/>
            <a:ext cx="2447925" cy="1609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9591" y="2932715"/>
            <a:ext cx="2266315" cy="17678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Urban</a:t>
            </a:r>
            <a:r>
              <a:rPr sz="1450" b="1" spc="2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E3E5F1"/>
                </a:solidFill>
                <a:latin typeface="Georgia"/>
                <a:cs typeface="Georgia"/>
              </a:rPr>
              <a:t>Planning</a:t>
            </a:r>
            <a:endParaRPr sz="1450">
              <a:latin typeface="Georgia"/>
              <a:cs typeface="Georgia"/>
            </a:endParaRPr>
          </a:p>
          <a:p>
            <a:pPr marL="12700" marR="5080" algn="ctr">
              <a:lnSpc>
                <a:spcPct val="138000"/>
              </a:lnSpc>
              <a:spcBef>
                <a:spcPts val="509"/>
              </a:spcBef>
            </a:pP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sz="1150" b="1" spc="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analysis</a:t>
            </a:r>
            <a:r>
              <a:rPr sz="1150" b="1" spc="1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helps</a:t>
            </a:r>
            <a:r>
              <a:rPr sz="1150" b="1" spc="1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urban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planners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visualize</a:t>
            </a:r>
            <a:r>
              <a:rPr sz="1150" b="1" spc="5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land</a:t>
            </a:r>
            <a:r>
              <a:rPr sz="1150" b="1" spc="5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0" dirty="0">
                <a:solidFill>
                  <a:srgbClr val="E3E5F1"/>
                </a:solidFill>
                <a:latin typeface="Georgia"/>
                <a:cs typeface="Georgia"/>
              </a:rPr>
              <a:t>use,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transportation</a:t>
            </a:r>
            <a:r>
              <a:rPr sz="1150" b="1" spc="-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networks,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population</a:t>
            </a:r>
            <a:r>
              <a:rPr sz="1150" b="1" spc="6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distribution,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leading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sz="1150" b="1" spc="5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better</a:t>
            </a:r>
            <a:r>
              <a:rPr sz="1150" b="1" spc="4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planning outcomes.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48050" y="1181099"/>
            <a:ext cx="2447925" cy="16097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43397" y="2920561"/>
            <a:ext cx="2255520" cy="17710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0050" marR="392430" algn="ctr">
              <a:lnSpc>
                <a:spcPct val="107800"/>
              </a:lnSpc>
              <a:spcBef>
                <a:spcPts val="90"/>
              </a:spcBef>
            </a:pPr>
            <a:r>
              <a:rPr sz="1450" b="1" spc="-10" dirty="0">
                <a:solidFill>
                  <a:srgbClr val="E3E5F1"/>
                </a:solidFill>
                <a:latin typeface="Georgia"/>
                <a:cs typeface="Georgia"/>
              </a:rPr>
              <a:t>Environmental Management</a:t>
            </a:r>
            <a:endParaRPr sz="1450">
              <a:latin typeface="Georgia"/>
              <a:cs typeface="Georgia"/>
            </a:endParaRPr>
          </a:p>
          <a:p>
            <a:pPr marL="12065" marR="5080" algn="ctr">
              <a:lnSpc>
                <a:spcPct val="137200"/>
              </a:lnSpc>
              <a:spcBef>
                <a:spcPts val="525"/>
              </a:spcBef>
            </a:pP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 is</a:t>
            </a:r>
            <a:r>
              <a:rPr sz="1150" b="1" spc="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utilized for</a:t>
            </a:r>
            <a:r>
              <a:rPr sz="1150" b="1" spc="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monitoring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environmental</a:t>
            </a:r>
            <a:r>
              <a:rPr sz="1150" b="1" spc="6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changes,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assessing</a:t>
            </a:r>
            <a:r>
              <a:rPr sz="1150" b="1" spc="2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natural</a:t>
            </a:r>
            <a:r>
              <a:rPr sz="1150" b="1" spc="2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resources,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sz="1150" b="1" spc="7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managing</a:t>
            </a:r>
            <a:r>
              <a:rPr sz="1150" b="1" spc="8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conservation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efforts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effectively.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1181099"/>
            <a:ext cx="2447925" cy="16097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52827" y="2932715"/>
            <a:ext cx="2313305" cy="152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solidFill>
                  <a:srgbClr val="E3E5F1"/>
                </a:solidFill>
                <a:latin typeface="Georgia"/>
                <a:cs typeface="Georgia"/>
              </a:rPr>
              <a:t>Public</a:t>
            </a:r>
            <a:r>
              <a:rPr sz="1450" b="1" spc="18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E3E5F1"/>
                </a:solidFill>
                <a:latin typeface="Georgia"/>
                <a:cs typeface="Georgia"/>
              </a:rPr>
              <a:t>Health</a:t>
            </a:r>
            <a:endParaRPr sz="1450">
              <a:latin typeface="Georgia"/>
              <a:cs typeface="Georgia"/>
            </a:endParaRPr>
          </a:p>
          <a:p>
            <a:pPr marL="12700" marR="5080" algn="ctr">
              <a:lnSpc>
                <a:spcPct val="138600"/>
              </a:lnSpc>
              <a:spcBef>
                <a:spcPts val="505"/>
              </a:spcBef>
            </a:pP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sz="1150" b="1" spc="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aids</a:t>
            </a:r>
            <a:r>
              <a:rPr sz="1150" b="1" spc="1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in</a:t>
            </a:r>
            <a:r>
              <a:rPr sz="1150" b="1" spc="1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tracking</a:t>
            </a:r>
            <a:r>
              <a:rPr sz="1150" b="1" spc="1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disease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outbreaks,</a:t>
            </a:r>
            <a:r>
              <a:rPr sz="1150" b="1" spc="7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analyzing</a:t>
            </a:r>
            <a:r>
              <a:rPr sz="1150" b="1" spc="7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health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services</a:t>
            </a:r>
            <a:r>
              <a:rPr sz="1150" b="1" spc="7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accessibility,</a:t>
            </a:r>
            <a:r>
              <a:rPr sz="1150" b="1" spc="7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5" dirty="0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planning</a:t>
            </a:r>
            <a:r>
              <a:rPr sz="1150" b="1" spc="9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health</a:t>
            </a:r>
            <a:r>
              <a:rPr sz="1150" b="1" spc="9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10" dirty="0">
                <a:solidFill>
                  <a:srgbClr val="E3E5F1"/>
                </a:solidFill>
                <a:latin typeface="Georgia"/>
                <a:cs typeface="Georgia"/>
              </a:rPr>
              <a:t>interventions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based</a:t>
            </a:r>
            <a:r>
              <a:rPr sz="1150" b="1" spc="35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on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dirty="0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sz="1150" b="1" spc="40" dirty="0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sz="1150" b="1" spc="-20" dirty="0">
                <a:solidFill>
                  <a:srgbClr val="E3E5F1"/>
                </a:solidFill>
                <a:latin typeface="Georgia"/>
                <a:cs typeface="Georgia"/>
              </a:rPr>
              <a:t>data.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420</Words>
  <Application>Microsoft Office PowerPoint</Application>
  <PresentationFormat>Custom</PresentationFormat>
  <Paragraphs>47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Calibri</vt:lpstr>
      <vt:lpstr>Georgia</vt:lpstr>
      <vt:lpstr>Office Theme</vt:lpstr>
      <vt:lpstr>Introduction to Geographic Information Systems (GIS)</vt:lpstr>
      <vt:lpstr>Types of GIS Maps</vt:lpstr>
      <vt:lpstr>Analyzing Spatial Data</vt:lpstr>
      <vt:lpstr>Interpreting GIS Maps</vt:lpstr>
      <vt:lpstr>Applications of GIS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Samir Khatiwada</cp:lastModifiedBy>
  <cp:revision>1</cp:revision>
  <dcterms:created xsi:type="dcterms:W3CDTF">2025-07-04T01:26:29Z</dcterms:created>
  <dcterms:modified xsi:type="dcterms:W3CDTF">2025-07-04T02:01:43Z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2025-07-04T00:00:00Z</vt:filetime>
  </property>
  <property fmtid="{D5CDD505-2E9C-101B-9397-08002B2CF9AE}" pid="5" name="Producer">
    <vt:lpwstr>GPL Ghostscript 9.53.3</vt:lpwstr>
  </property>
</Properties>
</file>