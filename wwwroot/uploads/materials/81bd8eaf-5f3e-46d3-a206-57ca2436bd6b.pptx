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2" d="100"/>
          <a:sy n="82" d="100"/>
        </p:scale>
        <p:origin x="820"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12/11/2024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transition>
    <p:wedg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12/11/2024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edge/>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r>
              <a:rPr lang="en-US" smtClean="0"/>
              <a:t/>
            </a:r>
            <a:br>
              <a:rPr lang="en-US" smtClean="0"/>
            </a:br>
            <a:r>
              <a:rPr lang="en-US" sz="3600" smtClean="0">
                <a:solidFill>
                  <a:srgbClr val="FF0000"/>
                </a:solidFill>
                <a:latin typeface="Algerian" pitchFamily="82" charset="0"/>
              </a:rPr>
              <a:t>UNIT-1 EDUCATION AS A DISCIPLINE</a:t>
            </a:r>
            <a:r>
              <a:rPr lang="en-US" sz="3600" smtClean="0"/>
              <a:t/>
            </a:r>
            <a:br>
              <a:rPr lang="en-US" sz="3600" smtClean="0"/>
            </a:br>
            <a:endParaRPr lang="en-US"/>
          </a:p>
        </p:txBody>
      </p:sp>
      <p:sp>
        <p:nvSpPr>
          <p:cNvPr id="3" name="Content Placeholder 2"/>
          <p:cNvSpPr>
            <a:spLocks noGrp="1"/>
          </p:cNvSpPr>
          <p:nvPr>
            <p:ph idx="1"/>
          </p:nvPr>
        </p:nvSpPr>
        <p:spPr>
          <a:xfrm>
            <a:off x="228600" y="685800"/>
            <a:ext cx="8686800" cy="6019800"/>
          </a:xfrm>
        </p:spPr>
        <p:txBody>
          <a:bodyPr>
            <a:normAutofit/>
          </a:bodyPr>
          <a:lstStyle/>
          <a:p>
            <a:pPr lvl="1">
              <a:buNone/>
            </a:pPr>
            <a:r>
              <a:rPr lang="en-US" sz="2400" smtClean="0">
                <a:solidFill>
                  <a:srgbClr val="0070C0"/>
                </a:solidFill>
                <a:latin typeface="Aharoni" pitchFamily="2" charset="-79"/>
                <a:cs typeface="Aharoni" pitchFamily="2" charset="-79"/>
              </a:rPr>
              <a:t>1.1 MEANING OF EDUCATION AS A DISCIPLINE</a:t>
            </a:r>
          </a:p>
          <a:p>
            <a:r>
              <a:rPr lang="en-US" sz="2400" smtClean="0">
                <a:latin typeface="Times New Roman" pitchFamily="18" charset="0"/>
                <a:cs typeface="Times New Roman" pitchFamily="18" charset="0"/>
              </a:rPr>
              <a:t>It has been pointed out by many researchers of higher education that the concept of a discipline is not a straightforward one. The disciplines are so different from each other that it is hard to come up with a concise definition that would fit all of them to the same degree. </a:t>
            </a:r>
          </a:p>
          <a:p>
            <a:r>
              <a:rPr lang="en-US" sz="2400" smtClean="0">
                <a:latin typeface="Times New Roman" pitchFamily="18" charset="0"/>
                <a:cs typeface="Times New Roman" pitchFamily="18" charset="0"/>
              </a:rPr>
              <a:t>A ‘discipline’ can be many things at the same time and it is worthwhile to look closely at the various meanings of the word. Therefore many academic investigations of the concept of ‘disciplinarily’ start off with an exploration of the etymology of the word discipline. </a:t>
            </a:r>
          </a:p>
          <a:p>
            <a:r>
              <a:rPr lang="en-US" sz="2400" smtClean="0">
                <a:latin typeface="Times New Roman" pitchFamily="18" charset="0"/>
                <a:cs typeface="Times New Roman" pitchFamily="18" charset="0"/>
              </a:rPr>
              <a:t>This seems to be a useful exercise as the word has clearly retained a strong connection to its etymological roots. The term ‘discipline’ originates from the Latin words </a:t>
            </a:r>
            <a:r>
              <a:rPr lang="en-US" sz="2400" i="1" smtClean="0">
                <a:latin typeface="Times New Roman" pitchFamily="18" charset="0"/>
                <a:cs typeface="Times New Roman" pitchFamily="18" charset="0"/>
              </a:rPr>
              <a:t>discipulus</a:t>
            </a:r>
            <a:r>
              <a:rPr lang="en-US" sz="2400" smtClean="0">
                <a:latin typeface="Times New Roman" pitchFamily="18" charset="0"/>
                <a:cs typeface="Times New Roman" pitchFamily="18" charset="0"/>
              </a:rPr>
              <a:t>, which means pupil, and </a:t>
            </a:r>
            <a:r>
              <a:rPr lang="en-US" sz="2400" i="1" smtClean="0">
                <a:latin typeface="Times New Roman" pitchFamily="18" charset="0"/>
                <a:cs typeface="Times New Roman" pitchFamily="18" charset="0"/>
              </a:rPr>
              <a:t>disciplina</a:t>
            </a:r>
            <a:r>
              <a:rPr lang="en-US" sz="2400" smtClean="0">
                <a:latin typeface="Times New Roman" pitchFamily="18" charset="0"/>
                <a:cs typeface="Times New Roman" pitchFamily="18" charset="0"/>
              </a:rPr>
              <a:t>, which means teaching (noun). Related to it is also the word ‘disciple’ as in the disciples of Jesus. </a:t>
            </a:r>
          </a:p>
          <a:p>
            <a:pPr lvl="1">
              <a:buNone/>
            </a:pPr>
            <a:endParaRPr lang="en-US" sz="2000">
              <a:solidFill>
                <a:srgbClr val="0070C0"/>
              </a:solidFill>
              <a:latin typeface="Aharoni" pitchFamily="2" charset="-79"/>
              <a:cs typeface="Aharoni" pitchFamily="2" charset="-79"/>
            </a:endParaRPr>
          </a:p>
        </p:txBody>
      </p:sp>
    </p:spTree>
  </p:cSld>
  <p:clrMapOvr>
    <a:masterClrMapping/>
  </p:clrMapOvr>
  <p:transition>
    <p:wedg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85800"/>
            <a:ext cx="8686800" cy="6019800"/>
          </a:xfrm>
        </p:spPr>
        <p:txBody>
          <a:bodyPr>
            <a:normAutofit/>
          </a:bodyPr>
          <a:lstStyle/>
          <a:p>
            <a:pPr>
              <a:buFont typeface="Wingdings" pitchFamily="2" charset="2"/>
              <a:buChar char="§"/>
            </a:pPr>
            <a:r>
              <a:rPr lang="en-US" sz="2400" smtClean="0">
                <a:latin typeface="Times New Roman" pitchFamily="18" charset="0"/>
                <a:cs typeface="Times New Roman" pitchFamily="18" charset="0"/>
              </a:rPr>
              <a:t>A dictionary definition will give a whole range of quite different meanings of the term from training to submission to an authority to the control and self-control of behavior’s a verb it means training someone to follow a rigorous set of instructions, but also punishing and enforcing obedience. </a:t>
            </a:r>
          </a:p>
          <a:p>
            <a:pPr>
              <a:buFont typeface="Wingdings" pitchFamily="2" charset="2"/>
              <a:buChar char="§"/>
            </a:pPr>
            <a:r>
              <a:rPr lang="en-US" sz="2400" smtClean="0">
                <a:latin typeface="Times New Roman" pitchFamily="18" charset="0"/>
                <a:cs typeface="Times New Roman" pitchFamily="18" charset="0"/>
              </a:rPr>
              <a:t>Important is ‘military discipline’ in the sense of the drill in the use of weapons and strict obedience to military commands. </a:t>
            </a:r>
          </a:p>
          <a:p>
            <a:pPr>
              <a:buFont typeface="Wingdings" pitchFamily="2" charset="2"/>
              <a:buChar char="§"/>
            </a:pPr>
            <a:r>
              <a:rPr lang="en-US" sz="2400" smtClean="0">
                <a:latin typeface="Times New Roman" pitchFamily="18" charset="0"/>
                <a:cs typeface="Times New Roman" pitchFamily="18" charset="0"/>
              </a:rPr>
              <a:t>Bryan Turner has also pointed at the ecclesiastical meaning, which refers to the order maintained in the church, and at the medical meaning of ‘discipline ‘as a medical regimen imposed by a doctor on a patient of the patient’s benefit. </a:t>
            </a:r>
          </a:p>
          <a:p>
            <a:pPr>
              <a:buFont typeface="Wingdings" pitchFamily="2" charset="2"/>
              <a:buChar char="§"/>
            </a:pPr>
            <a:r>
              <a:rPr lang="en-US" sz="2400" smtClean="0">
                <a:latin typeface="Times New Roman" pitchFamily="18" charset="0"/>
                <a:cs typeface="Times New Roman" pitchFamily="18" charset="0"/>
              </a:rPr>
              <a:t>It follows that the academic discipline can be seen as a form of specific and rigorous scientific training that will turn out practitioners who have been ‘disciplined by their discipline’ for their own good. </a:t>
            </a:r>
            <a:endParaRPr lang="en-US" smtClean="0">
              <a:solidFill>
                <a:srgbClr val="0070C0"/>
              </a:solidFill>
              <a:latin typeface="Times New Roman" pitchFamily="18" charset="0"/>
              <a:cs typeface="Times New Roman" pitchFamily="18" charset="0"/>
            </a:endParaRPr>
          </a:p>
        </p:txBody>
      </p:sp>
    </p:spTree>
  </p:cSld>
  <p:clrMapOvr>
    <a:masterClrMapping/>
  </p:clrMapOvr>
  <p:transition>
    <p:wedg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533400"/>
            <a:ext cx="8686800" cy="6172200"/>
          </a:xfrm>
        </p:spPr>
        <p:txBody>
          <a:bodyPr>
            <a:normAutofit/>
          </a:bodyPr>
          <a:lstStyle/>
          <a:p>
            <a:pPr>
              <a:buFont typeface="Wingdings" pitchFamily="2" charset="2"/>
              <a:buChar char="§"/>
            </a:pPr>
            <a:r>
              <a:rPr lang="en-US" sz="2200" smtClean="0">
                <a:latin typeface="Times New Roman" pitchFamily="18" charset="0"/>
                <a:cs typeface="Times New Roman" pitchFamily="18" charset="0"/>
              </a:rPr>
              <a:t>In addition, ‘discipline’ also means policing certain behaviors or ways of thinking. Individuals who have deviated from their ‘discipline’ can be brought back in line or excluded. As a result, there is an important moral dimension to ‘discipline’ that defines how people should behave or think. </a:t>
            </a:r>
          </a:p>
          <a:p>
            <a:pPr>
              <a:buFont typeface="Wingdings" pitchFamily="2" charset="2"/>
              <a:buChar char="§"/>
            </a:pPr>
            <a:r>
              <a:rPr lang="en-US" sz="2200" smtClean="0">
                <a:latin typeface="Times New Roman" pitchFamily="18" charset="0"/>
                <a:cs typeface="Times New Roman" pitchFamily="18" charset="0"/>
              </a:rPr>
              <a:t>Michel Foucault has famously interpreted ‘discipline’ as a violent political force and practice that is brought to bear on individuals for producing ‘docile bodies’ and minds. In this process of disciplining for the general purpose of economic exploitation and political subjugation the ‘disciplines’ do not remain external to the subject, but become increasingly internalized. </a:t>
            </a:r>
          </a:p>
          <a:p>
            <a:pPr>
              <a:buFont typeface="Wingdings" pitchFamily="2" charset="2"/>
              <a:buChar char="§"/>
            </a:pPr>
            <a:r>
              <a:rPr lang="en-US" sz="2200" smtClean="0">
                <a:latin typeface="Times New Roman" pitchFamily="18" charset="0"/>
                <a:cs typeface="Times New Roman" pitchFamily="18" charset="0"/>
              </a:rPr>
              <a:t>Although Foucault uses the term ‘discipline’ in a very general and also fairly specific sense, it clearly includes the academic disciplines and their contributions to bringing about ‘discipline’ in society. The disciplined individual accepts the external rationality and values as one’s own, which means open repression is no longer needed. For Foucault disciplining is thus a process aimed at limiting the freedom of individuals and as a way of constraining discourses.</a:t>
            </a:r>
          </a:p>
          <a:p>
            <a:pPr>
              <a:buFont typeface="Wingdings" pitchFamily="2" charset="2"/>
              <a:buChar char="§"/>
            </a:pPr>
            <a:endParaRPr lang="en-US" smtClean="0">
              <a:solidFill>
                <a:srgbClr val="0070C0"/>
              </a:solidFill>
              <a:latin typeface="Times New Roman" pitchFamily="18" charset="0"/>
              <a:cs typeface="Times New Roman" pitchFamily="18" charset="0"/>
            </a:endParaRPr>
          </a:p>
        </p:txBody>
      </p:sp>
    </p:spTree>
  </p:cSld>
  <p:clrMapOvr>
    <a:masterClrMapping/>
  </p:clrMapOvr>
  <p:transition>
    <p:wedg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09600"/>
            <a:ext cx="8686800" cy="6096000"/>
          </a:xfrm>
        </p:spPr>
        <p:txBody>
          <a:bodyPr>
            <a:noAutofit/>
          </a:bodyPr>
          <a:lstStyle/>
          <a:p>
            <a:r>
              <a:rPr lang="en-US" sz="2200" smtClean="0">
                <a:latin typeface="Times New Roman" pitchFamily="18" charset="0"/>
                <a:cs typeface="Times New Roman" pitchFamily="18" charset="0"/>
              </a:rPr>
              <a:t>Generally it can be said that the more of these boxes a discipline can tick, the more likely it becomes that a certain field of academic enquiry is a recognized discipline capable of reproducing itself and building upon a growing body of own scholarship. </a:t>
            </a:r>
          </a:p>
          <a:p>
            <a:r>
              <a:rPr lang="en-US" sz="2200" smtClean="0">
                <a:latin typeface="Times New Roman" pitchFamily="18" charset="0"/>
                <a:cs typeface="Times New Roman" pitchFamily="18" charset="0"/>
              </a:rPr>
              <a:t>If a discipline is called ‘studies’, then it usually indicates that it is of newer origin (post Second World War) and that it may fall short of one or more of the above mentioned characteristics. </a:t>
            </a:r>
          </a:p>
          <a:p>
            <a:r>
              <a:rPr lang="en-US" sz="2200" smtClean="0">
                <a:latin typeface="Times New Roman" pitchFamily="18" charset="0"/>
                <a:cs typeface="Times New Roman" pitchFamily="18" charset="0"/>
              </a:rPr>
              <a:t>This would be typically lack of theorization or lack of specific methodologies, which usually diminishes the status of a field of research. These ‘studies’ disciplines can either aim at remaining ‘undisciplined’, as women’s studies did in the 1970s, or they can engage in the process of their disciplinarisation and institutionalization. </a:t>
            </a:r>
          </a:p>
          <a:p>
            <a:r>
              <a:rPr lang="en-US" sz="2200" smtClean="0">
                <a:latin typeface="Times New Roman" pitchFamily="18" charset="0"/>
                <a:cs typeface="Times New Roman" pitchFamily="18" charset="0"/>
              </a:rPr>
              <a:t>Furthermore, although there can be no true hierarchy in the world of science, as each discipline can claim expert knowledge in its own domain, not all disciplines are created equal. Some disciplines would be considered to be ‘more useful, more rigorous, more difficult, or more important than others’. </a:t>
            </a:r>
            <a:endParaRPr lang="en-US" sz="2200">
              <a:latin typeface="Times New Roman" pitchFamily="18" charset="0"/>
              <a:cs typeface="Times New Roman" pitchFamily="18" charset="0"/>
            </a:endParaRPr>
          </a:p>
        </p:txBody>
      </p:sp>
    </p:spTree>
  </p:cSld>
  <p:clrMapOvr>
    <a:masterClrMapping/>
  </p:clrMapOvr>
  <p:transition>
    <p:wedg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09600"/>
            <a:ext cx="8686800" cy="6096000"/>
          </a:xfrm>
        </p:spPr>
        <p:txBody>
          <a:bodyPr>
            <a:noAutofit/>
          </a:bodyPr>
          <a:lstStyle/>
          <a:p>
            <a:r>
              <a:rPr lang="en-US" sz="2800" smtClean="0">
                <a:latin typeface="Times New Roman" pitchFamily="18" charset="0"/>
                <a:cs typeface="Times New Roman" pitchFamily="18" charset="0"/>
              </a:rPr>
              <a:t>Education is generally denoted as a discipline related to the activities of educating or instructing and activities that impart knowledge, skills and attitudes. </a:t>
            </a:r>
          </a:p>
          <a:p>
            <a:r>
              <a:rPr lang="en-US" sz="2800" smtClean="0">
                <a:latin typeface="Times New Roman" pitchFamily="18" charset="0"/>
                <a:cs typeface="Times New Roman" pitchFamily="18" charset="0"/>
              </a:rPr>
              <a:t>It is meant that education is said to be gaining knowledge or to learn new ideas, skills and attitudes. It is a continuous process which goes along the life. </a:t>
            </a:r>
          </a:p>
          <a:p>
            <a:r>
              <a:rPr lang="en-US" sz="2800" b="1" smtClean="0">
                <a:latin typeface="Times New Roman" pitchFamily="18" charset="0"/>
                <a:cs typeface="Times New Roman" pitchFamily="18" charset="0"/>
              </a:rPr>
              <a:t>According to the concept of Educationist, Dumvile-“Education begins from the cradle and ends to the grave”.</a:t>
            </a:r>
            <a:r>
              <a:rPr lang="en-US" sz="2800" smtClean="0">
                <a:latin typeface="Times New Roman" pitchFamily="18" charset="0"/>
                <a:cs typeface="Times New Roman" pitchFamily="18" charset="0"/>
              </a:rPr>
              <a:t> </a:t>
            </a:r>
          </a:p>
          <a:p>
            <a:r>
              <a:rPr lang="en-US" sz="2800" smtClean="0">
                <a:latin typeface="Times New Roman" pitchFamily="18" charset="0"/>
                <a:cs typeface="Times New Roman" pitchFamily="18" charset="0"/>
              </a:rPr>
              <a:t>It is difficult to define education according  to the limitations of historical boundary. It is analyzed, described and used differently according to the time, situation and environment.</a:t>
            </a:r>
            <a:endParaRPr lang="en-US" sz="2800">
              <a:latin typeface="Times New Roman" pitchFamily="18" charset="0"/>
              <a:cs typeface="Times New Roman" pitchFamily="18" charset="0"/>
            </a:endParaRPr>
          </a:p>
        </p:txBody>
      </p:sp>
    </p:spTree>
  </p:cSld>
  <p:clrMapOvr>
    <a:masterClrMapping/>
  </p:clrMapOvr>
  <p:transition>
    <p:wedg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09600"/>
            <a:ext cx="8686800" cy="6096000"/>
          </a:xfrm>
        </p:spPr>
        <p:txBody>
          <a:bodyPr>
            <a:noAutofit/>
          </a:bodyPr>
          <a:lstStyle/>
          <a:p>
            <a:r>
              <a:rPr lang="en-US" sz="2800" smtClean="0">
                <a:latin typeface="Times New Roman" pitchFamily="18" charset="0"/>
                <a:cs typeface="Times New Roman" pitchFamily="18" charset="0"/>
              </a:rPr>
              <a:t>Now, we are going to discuss about education as a discipline in which it is required to clarify the concept of discipline as well. </a:t>
            </a:r>
            <a:r>
              <a:rPr lang="en-US" sz="2800" b="1" smtClean="0">
                <a:latin typeface="Times New Roman" pitchFamily="18" charset="0"/>
                <a:cs typeface="Times New Roman" pitchFamily="18" charset="0"/>
              </a:rPr>
              <a:t>Discipline means distinctive field of study. Discipline is defined as a branch of study or research through which in depth knowledge of organized area so that the study can be done logically.</a:t>
            </a:r>
            <a:endParaRPr lang="en-US" sz="2800" smtClean="0">
              <a:latin typeface="Times New Roman" pitchFamily="18" charset="0"/>
              <a:cs typeface="Times New Roman" pitchFamily="18" charset="0"/>
            </a:endParaRPr>
          </a:p>
          <a:p>
            <a:r>
              <a:rPr lang="en-US" sz="2800" smtClean="0">
                <a:latin typeface="Times New Roman" pitchFamily="18" charset="0"/>
                <a:cs typeface="Times New Roman" pitchFamily="18" charset="0"/>
              </a:rPr>
              <a:t>“The subject matters which are studied and research deeply and logically in particular area are called discipline.” </a:t>
            </a:r>
          </a:p>
          <a:p>
            <a:r>
              <a:rPr lang="en-US" sz="2800" smtClean="0">
                <a:latin typeface="Times New Roman" pitchFamily="18" charset="0"/>
                <a:cs typeface="Times New Roman" pitchFamily="18" charset="0"/>
              </a:rPr>
              <a:t>In other words a “Discipline is branch of knowledge.”</a:t>
            </a:r>
          </a:p>
          <a:p>
            <a:r>
              <a:rPr lang="en-US" sz="2800" smtClean="0">
                <a:latin typeface="Times New Roman" pitchFamily="18" charset="0"/>
                <a:cs typeface="Times New Roman" pitchFamily="18" charset="0"/>
              </a:rPr>
              <a:t>Any study or research done by over viewing each and every small thing on behaving a fact organized in a particular educational field is called discipline. </a:t>
            </a:r>
            <a:endParaRPr lang="en-US" sz="2800">
              <a:latin typeface="Times New Roman" pitchFamily="18" charset="0"/>
              <a:cs typeface="Times New Roman" pitchFamily="18" charset="0"/>
            </a:endParaRPr>
          </a:p>
        </p:txBody>
      </p:sp>
    </p:spTree>
  </p:cSld>
  <p:clrMapOvr>
    <a:masterClrMapping/>
  </p:clrMapOvr>
  <p:transition>
    <p:wedg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85800"/>
            <a:ext cx="8686800" cy="6019800"/>
          </a:xfrm>
        </p:spPr>
        <p:txBody>
          <a:bodyPr>
            <a:noAutofit/>
          </a:bodyPr>
          <a:lstStyle/>
          <a:p>
            <a:r>
              <a:rPr lang="en-US" smtClean="0">
                <a:latin typeface="Times New Roman" pitchFamily="18" charset="0"/>
                <a:cs typeface="Times New Roman" pitchFamily="18" charset="0"/>
              </a:rPr>
              <a:t>We can say that the meaning of discipline is:</a:t>
            </a:r>
          </a:p>
          <a:p>
            <a:pPr>
              <a:buNone/>
            </a:pPr>
            <a:r>
              <a:rPr lang="en-US" smtClean="0">
                <a:latin typeface="Times New Roman" pitchFamily="18" charset="0"/>
                <a:cs typeface="Times New Roman" pitchFamily="18" charset="0"/>
              </a:rPr>
              <a:t>	i} A branch of knowledge,</a:t>
            </a:r>
          </a:p>
          <a:p>
            <a:pPr>
              <a:buNone/>
            </a:pPr>
            <a:r>
              <a:rPr lang="en-US" smtClean="0">
                <a:latin typeface="Times New Roman" pitchFamily="18" charset="0"/>
                <a:cs typeface="Times New Roman" pitchFamily="18" charset="0"/>
              </a:rPr>
              <a:t>	ii} The concept of instruction,</a:t>
            </a:r>
          </a:p>
          <a:p>
            <a:pPr>
              <a:buNone/>
            </a:pPr>
            <a:r>
              <a:rPr lang="en-US" smtClean="0">
                <a:latin typeface="Times New Roman" pitchFamily="18" charset="0"/>
                <a:cs typeface="Times New Roman" pitchFamily="18" charset="0"/>
              </a:rPr>
              <a:t>	iii} A subject of study.</a:t>
            </a:r>
          </a:p>
          <a:p>
            <a:r>
              <a:rPr lang="en-US" smtClean="0">
                <a:latin typeface="Times New Roman" pitchFamily="18" charset="0"/>
                <a:cs typeface="Times New Roman" pitchFamily="18" charset="0"/>
              </a:rPr>
              <a:t>Now days, knowledge can be clarified in regarding to its content and nature for the organized study along with diffusion of knowledge all over the world. </a:t>
            </a:r>
          </a:p>
          <a:p>
            <a:r>
              <a:rPr lang="en-US" smtClean="0">
                <a:latin typeface="Times New Roman" pitchFamily="18" charset="0"/>
                <a:cs typeface="Times New Roman" pitchFamily="18" charset="0"/>
              </a:rPr>
              <a:t>In the mid-time of 19</a:t>
            </a:r>
            <a:r>
              <a:rPr lang="en-US" baseline="30000" smtClean="0">
                <a:latin typeface="Times New Roman" pitchFamily="18" charset="0"/>
                <a:cs typeface="Times New Roman" pitchFamily="18" charset="0"/>
              </a:rPr>
              <a:t>th </a:t>
            </a:r>
            <a:r>
              <a:rPr lang="en-US" smtClean="0">
                <a:latin typeface="Times New Roman" pitchFamily="18" charset="0"/>
                <a:cs typeface="Times New Roman" pitchFamily="18" charset="0"/>
              </a:rPr>
              <a:t>century, we could see that the education had got chance to be developed as a new content of discipline. </a:t>
            </a:r>
            <a:endParaRPr lang="en-US">
              <a:latin typeface="Times New Roman" pitchFamily="18" charset="0"/>
              <a:cs typeface="Times New Roman" pitchFamily="18" charset="0"/>
            </a:endParaRPr>
          </a:p>
        </p:txBody>
      </p:sp>
    </p:spTree>
  </p:cSld>
  <p:clrMapOvr>
    <a:masterClrMapping/>
  </p:clrMapOvr>
  <p:transition>
    <p:wedg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85800"/>
            <a:ext cx="8686800" cy="6019800"/>
          </a:xfrm>
        </p:spPr>
        <p:txBody>
          <a:bodyPr>
            <a:noAutofit/>
          </a:bodyPr>
          <a:lstStyle/>
          <a:p>
            <a:pPr>
              <a:buNone/>
            </a:pPr>
            <a:r>
              <a:rPr lang="en-US" sz="2800" i="1" smtClean="0">
                <a:latin typeface="Times New Roman" pitchFamily="18" charset="0"/>
                <a:cs typeface="Times New Roman" pitchFamily="18" charset="0"/>
              </a:rPr>
              <a:t>The meaning of discipline is clearly tabulated below:</a:t>
            </a:r>
          </a:p>
          <a:p>
            <a:r>
              <a:rPr lang="en-US" smtClean="0">
                <a:latin typeface="Times New Roman" pitchFamily="18" charset="0"/>
                <a:cs typeface="Times New Roman" pitchFamily="18" charset="0"/>
              </a:rPr>
              <a:t>Branch of knowledge </a:t>
            </a:r>
          </a:p>
          <a:p>
            <a:pPr lvl="0"/>
            <a:r>
              <a:rPr lang="en-US" smtClean="0">
                <a:latin typeface="Times New Roman" pitchFamily="18" charset="0"/>
                <a:cs typeface="Times New Roman" pitchFamily="18" charset="0"/>
              </a:rPr>
              <a:t>Structure of knowledge </a:t>
            </a:r>
          </a:p>
          <a:p>
            <a:pPr lvl="0"/>
            <a:r>
              <a:rPr lang="en-US" smtClean="0">
                <a:latin typeface="Times New Roman" pitchFamily="18" charset="0"/>
                <a:cs typeface="Times New Roman" pitchFamily="18" charset="0"/>
              </a:rPr>
              <a:t>Subject of instruction.</a:t>
            </a:r>
          </a:p>
          <a:p>
            <a:pPr>
              <a:buNone/>
            </a:pPr>
            <a:r>
              <a:rPr lang="en-US" smtClean="0">
                <a:latin typeface="Times New Roman" pitchFamily="18" charset="0"/>
                <a:cs typeface="Times New Roman" pitchFamily="18" charset="0"/>
              </a:rPr>
              <a:t>	</a:t>
            </a:r>
            <a:r>
              <a:rPr lang="en-US" sz="2800" i="1" smtClean="0">
                <a:latin typeface="Times New Roman" pitchFamily="18" charset="0"/>
                <a:cs typeface="Times New Roman" pitchFamily="18" charset="0"/>
              </a:rPr>
              <a:t>Structures of knowledge are classified as follows:</a:t>
            </a:r>
            <a:endParaRPr lang="en-US" i="1" smtClean="0">
              <a:latin typeface="Times New Roman" pitchFamily="18" charset="0"/>
              <a:cs typeface="Times New Roman" pitchFamily="18" charset="0"/>
            </a:endParaRPr>
          </a:p>
          <a:p>
            <a:pPr lvl="0"/>
            <a:r>
              <a:rPr lang="en-US" smtClean="0">
                <a:latin typeface="Times New Roman" pitchFamily="18" charset="0"/>
                <a:cs typeface="Times New Roman" pitchFamily="18" charset="0"/>
              </a:rPr>
              <a:t>Meaning and definition</a:t>
            </a:r>
          </a:p>
          <a:p>
            <a:pPr lvl="0"/>
            <a:r>
              <a:rPr lang="en-US" smtClean="0">
                <a:latin typeface="Times New Roman" pitchFamily="18" charset="0"/>
                <a:cs typeface="Times New Roman" pitchFamily="18" charset="0"/>
              </a:rPr>
              <a:t>Rules and Generalization</a:t>
            </a:r>
          </a:p>
          <a:p>
            <a:pPr lvl="0"/>
            <a:r>
              <a:rPr lang="en-US" smtClean="0">
                <a:latin typeface="Times New Roman" pitchFamily="18" charset="0"/>
                <a:cs typeface="Times New Roman" pitchFamily="18" charset="0"/>
              </a:rPr>
              <a:t>Concept &amp; principles</a:t>
            </a:r>
          </a:p>
          <a:p>
            <a:pPr lvl="0"/>
            <a:r>
              <a:rPr lang="en-US" smtClean="0">
                <a:latin typeface="Times New Roman" pitchFamily="18" charset="0"/>
                <a:cs typeface="Times New Roman" pitchFamily="18" charset="0"/>
              </a:rPr>
              <a:t>Facts and information</a:t>
            </a:r>
          </a:p>
          <a:p>
            <a:pPr lvl="0"/>
            <a:r>
              <a:rPr lang="en-US" smtClean="0">
                <a:latin typeface="Times New Roman" pitchFamily="18" charset="0"/>
                <a:cs typeface="Times New Roman" pitchFamily="18" charset="0"/>
              </a:rPr>
              <a:t>Methodology &amp; Terminology</a:t>
            </a:r>
            <a:endParaRPr lang="en-US">
              <a:latin typeface="Times New Roman" pitchFamily="18" charset="0"/>
              <a:cs typeface="Times New Roman" pitchFamily="18" charset="0"/>
            </a:endParaRPr>
          </a:p>
        </p:txBody>
      </p:sp>
    </p:spTree>
  </p:cSld>
  <p:clrMapOvr>
    <a:masterClrMapping/>
  </p:clrMapOvr>
  <p:transition>
    <p:wedg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533400"/>
            <a:ext cx="8686800" cy="6172200"/>
          </a:xfrm>
        </p:spPr>
        <p:txBody>
          <a:bodyPr>
            <a:noAutofit/>
          </a:bodyPr>
          <a:lstStyle/>
          <a:p>
            <a:r>
              <a:rPr lang="en-US" sz="2400" smtClean="0">
                <a:latin typeface="Times New Roman" pitchFamily="18" charset="0"/>
                <a:cs typeface="Times New Roman" pitchFamily="18" charset="0"/>
              </a:rPr>
              <a:t>Education is known as world of learning in ancient time. The meaning of education was to gain knowledge and become enlighten. </a:t>
            </a:r>
          </a:p>
          <a:p>
            <a:r>
              <a:rPr lang="en-US" sz="2400" smtClean="0">
                <a:latin typeface="Times New Roman" pitchFamily="18" charset="0"/>
                <a:cs typeface="Times New Roman" pitchFamily="18" charset="0"/>
              </a:rPr>
              <a:t>In medieval time, education is affected by the religious, tradition, customs and beliefs are conserved through holy books and epics such as Geeta, Ramayana, Bible and Quran. </a:t>
            </a:r>
          </a:p>
          <a:p>
            <a:r>
              <a:rPr lang="en-US" sz="2400" smtClean="0">
                <a:latin typeface="Times New Roman" pitchFamily="18" charset="0"/>
                <a:cs typeface="Times New Roman" pitchFamily="18" charset="0"/>
              </a:rPr>
              <a:t>All of these concepts were helped to establish education as a discipline in the world. Educational discipline is started from science of education. </a:t>
            </a:r>
          </a:p>
          <a:p>
            <a:r>
              <a:rPr lang="en-US" sz="2400" smtClean="0">
                <a:latin typeface="Times New Roman" pitchFamily="18" charset="0"/>
                <a:cs typeface="Times New Roman" pitchFamily="18" charset="0"/>
              </a:rPr>
              <a:t>In the field of education, innovative concept was immersed via what is life? What is education? Education is provided for what, why, when and whom? What is society for? What should the methodology be like? Why we need the teaching materials? How it was constructed and used in class room? Why should we evaluate effectively? What are the major learning theories? etc help to develop enormously education as a discipline. </a:t>
            </a:r>
            <a:endParaRPr lang="en-US" sz="2400">
              <a:latin typeface="Times New Roman" pitchFamily="18" charset="0"/>
              <a:cs typeface="Times New Roman" pitchFamily="18" charset="0"/>
            </a:endParaRPr>
          </a:p>
        </p:txBody>
      </p:sp>
    </p:spTree>
  </p:cSld>
  <p:clrMapOvr>
    <a:masterClrMapping/>
  </p:clrMapOvr>
  <p:transition>
    <p:wedg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533400"/>
            <a:ext cx="8686800" cy="6172200"/>
          </a:xfrm>
        </p:spPr>
        <p:txBody>
          <a:bodyPr>
            <a:noAutofit/>
          </a:bodyPr>
          <a:lstStyle/>
          <a:p>
            <a:pPr>
              <a:buNone/>
            </a:pPr>
            <a:r>
              <a:rPr lang="en-US" sz="2400" smtClean="0"/>
              <a:t>	</a:t>
            </a:r>
            <a:r>
              <a:rPr lang="en-US" sz="2300" i="1" smtClean="0">
                <a:latin typeface="Times New Roman" pitchFamily="18" charset="0"/>
                <a:cs typeface="Times New Roman" pitchFamily="18" charset="0"/>
              </a:rPr>
              <a:t>On the development of education as a discipline the following philosophers have illustrated their ideas which are as follows:</a:t>
            </a:r>
          </a:p>
          <a:p>
            <a:pPr lvl="0"/>
            <a:r>
              <a:rPr lang="en-US" sz="2300" smtClean="0">
                <a:latin typeface="Times New Roman" pitchFamily="18" charset="0"/>
                <a:cs typeface="Times New Roman" pitchFamily="18" charset="0"/>
              </a:rPr>
              <a:t>Plato- Societies are classified differently to imagine whether the society is ideal state.</a:t>
            </a:r>
          </a:p>
          <a:p>
            <a:pPr lvl="0"/>
            <a:r>
              <a:rPr lang="en-US" sz="2300" smtClean="0">
                <a:latin typeface="Times New Roman" pitchFamily="18" charset="0"/>
                <a:cs typeface="Times New Roman" pitchFamily="18" charset="0"/>
              </a:rPr>
              <a:t> Aristotle- Explain inductive and deductive method</a:t>
            </a:r>
          </a:p>
          <a:p>
            <a:pPr lvl="0"/>
            <a:r>
              <a:rPr lang="en-US" sz="2300" smtClean="0">
                <a:latin typeface="Times New Roman" pitchFamily="18" charset="0"/>
                <a:cs typeface="Times New Roman" pitchFamily="18" charset="0"/>
              </a:rPr>
              <a:t> Herbert Spence- He had contributed scientific thinking in education.</a:t>
            </a:r>
          </a:p>
          <a:p>
            <a:pPr lvl="0"/>
            <a:r>
              <a:rPr lang="en-US" sz="2300" smtClean="0">
                <a:latin typeface="Times New Roman" pitchFamily="18" charset="0"/>
                <a:cs typeface="Times New Roman" pitchFamily="18" charset="0"/>
              </a:rPr>
              <a:t> Socrates- He had pro founded dialectic method.</a:t>
            </a:r>
          </a:p>
          <a:p>
            <a:pPr lvl="0"/>
            <a:r>
              <a:rPr lang="en-US" sz="2300" smtClean="0">
                <a:latin typeface="Times New Roman" pitchFamily="18" charset="0"/>
                <a:cs typeface="Times New Roman" pitchFamily="18" charset="0"/>
              </a:rPr>
              <a:t>Coombs told educational crisis.</a:t>
            </a:r>
          </a:p>
          <a:p>
            <a:pPr lvl="0"/>
            <a:r>
              <a:rPr lang="en-US" sz="2300" b="1" smtClean="0">
                <a:latin typeface="Times New Roman" pitchFamily="18" charset="0"/>
                <a:cs typeface="Times New Roman" pitchFamily="18" charset="0"/>
              </a:rPr>
              <a:t> </a:t>
            </a:r>
            <a:r>
              <a:rPr lang="en-US" sz="2300" smtClean="0">
                <a:latin typeface="Times New Roman" pitchFamily="18" charset="0"/>
                <a:cs typeface="Times New Roman" pitchFamily="18" charset="0"/>
              </a:rPr>
              <a:t>Ivan Illich and Rammer had published a book named as   Deschawling society and the school is dead.</a:t>
            </a:r>
          </a:p>
          <a:p>
            <a:pPr lvl="0"/>
            <a:r>
              <a:rPr lang="en-US" sz="2300" smtClean="0">
                <a:latin typeface="Times New Roman" pitchFamily="18" charset="0"/>
                <a:cs typeface="Times New Roman" pitchFamily="18" charset="0"/>
              </a:rPr>
              <a:t>Paulo Freire had emphasized the equality of education.</a:t>
            </a:r>
          </a:p>
          <a:p>
            <a:pPr>
              <a:buNone/>
            </a:pPr>
            <a:r>
              <a:rPr lang="en-US" sz="2300" smtClean="0">
                <a:latin typeface="Times New Roman" pitchFamily="18" charset="0"/>
                <a:cs typeface="Times New Roman" pitchFamily="18" charset="0"/>
              </a:rPr>
              <a:t>	All of these progressive nations had played important roles in developing education as a discipline. An </a:t>
            </a:r>
            <a:r>
              <a:rPr lang="en-US" sz="2300" b="1" smtClean="0">
                <a:latin typeface="Times New Roman" pitchFamily="18" charset="0"/>
                <a:cs typeface="Times New Roman" pitchFamily="18" charset="0"/>
              </a:rPr>
              <a:t>academic discipline</a:t>
            </a:r>
            <a:r>
              <a:rPr lang="en-US" sz="2300" smtClean="0">
                <a:latin typeface="Times New Roman" pitchFamily="18" charset="0"/>
                <a:cs typeface="Times New Roman" pitchFamily="18" charset="0"/>
              </a:rPr>
              <a:t> or field of study is a branch of knowledge that is taught and researched as part of higher education.</a:t>
            </a:r>
            <a:endParaRPr lang="en-US" sz="2300">
              <a:latin typeface="Times New Roman" pitchFamily="18" charset="0"/>
              <a:cs typeface="Times New Roman" pitchFamily="18" charset="0"/>
            </a:endParaRPr>
          </a:p>
        </p:txBody>
      </p:sp>
    </p:spTree>
  </p:cSld>
  <p:clrMapOvr>
    <a:masterClrMapping/>
  </p:clrMapOvr>
  <p:transition>
    <p:wedg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09600"/>
            <a:ext cx="8686800" cy="6096000"/>
          </a:xfrm>
        </p:spPr>
        <p:txBody>
          <a:bodyPr>
            <a:noAutofit/>
          </a:bodyPr>
          <a:lstStyle/>
          <a:p>
            <a:r>
              <a:rPr lang="en-US" sz="2500" smtClean="0">
                <a:latin typeface="Times New Roman" pitchFamily="18" charset="0"/>
                <a:cs typeface="Times New Roman" pitchFamily="18" charset="0"/>
              </a:rPr>
              <a:t>In the context of Nepal, Normal school (2004), teacher education program (2006 B.S) was established that was conducted in college of education which was established in 2013 B.S. </a:t>
            </a:r>
          </a:p>
          <a:p>
            <a:r>
              <a:rPr lang="en-US" sz="2500" smtClean="0">
                <a:latin typeface="Times New Roman" pitchFamily="18" charset="0"/>
                <a:cs typeface="Times New Roman" pitchFamily="18" charset="0"/>
              </a:rPr>
              <a:t>Now a day modern thought is begun in educational discipline. Education is made subject of human right and birth right, free compulsory education, equality of education, education for all are the right that was included in discipline of education. </a:t>
            </a:r>
          </a:p>
          <a:p>
            <a:r>
              <a:rPr lang="en-US" sz="2500" smtClean="0">
                <a:latin typeface="Times New Roman" pitchFamily="18" charset="0"/>
                <a:cs typeface="Times New Roman" pitchFamily="18" charset="0"/>
              </a:rPr>
              <a:t>Education is life where as life is education. The broad concept that was developed along with Open University, non formal education qualitative aspect of education and employment oriented education as innovation and development of education for strengthens in discipline. </a:t>
            </a:r>
          </a:p>
          <a:p>
            <a:r>
              <a:rPr lang="en-US" sz="2500" smtClean="0">
                <a:latin typeface="Times New Roman" pitchFamily="18" charset="0"/>
                <a:cs typeface="Times New Roman" pitchFamily="18" charset="0"/>
              </a:rPr>
              <a:t>It is meant that the structure of knowledge and field of study has been depth gently in the fields of educational discipline.</a:t>
            </a:r>
          </a:p>
          <a:p>
            <a:pPr>
              <a:buNone/>
            </a:pPr>
            <a:endParaRPr lang="en-US" sz="2300">
              <a:latin typeface="Times New Roman" pitchFamily="18" charset="0"/>
              <a:cs typeface="Times New Roman" pitchFamily="18" charset="0"/>
            </a:endParaRPr>
          </a:p>
        </p:txBody>
      </p:sp>
    </p:spTree>
  </p:cSld>
  <p:clrMapOvr>
    <a:masterClrMapping/>
  </p:clrMapOvr>
  <p:transition>
    <p:wedg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1.1</a:t>
            </a:r>
            <a:r>
              <a:rPr lang="en-US" sz="2800" smtClean="0">
                <a:solidFill>
                  <a:srgbClr val="FF0000"/>
                </a:solidFill>
                <a:latin typeface="Algerian" pitchFamily="82" charset="0"/>
                <a:cs typeface="Aharoni" pitchFamily="2" charset="-79"/>
              </a:rPr>
              <a:t> MEANING OF EDUCATION AS A 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09600"/>
            <a:ext cx="8686800" cy="6096000"/>
          </a:xfrm>
        </p:spPr>
        <p:txBody>
          <a:bodyPr>
            <a:noAutofit/>
          </a:bodyPr>
          <a:lstStyle/>
          <a:p>
            <a:r>
              <a:rPr lang="en-US" sz="1800" smtClean="0">
                <a:latin typeface="Times New Roman" pitchFamily="18" charset="0"/>
                <a:cs typeface="Times New Roman" pitchFamily="18" charset="0"/>
              </a:rPr>
              <a:t>In narrower the meaning of discipline means a branch of knowledge or subject matter or department.</a:t>
            </a:r>
          </a:p>
          <a:p>
            <a:r>
              <a:rPr lang="en-US" sz="1800" smtClean="0">
                <a:latin typeface="Times New Roman" pitchFamily="18" charset="0"/>
                <a:cs typeface="Times New Roman" pitchFamily="18" charset="0"/>
              </a:rPr>
              <a:t> It regards that education is a process of giving and taking of knowledge through interaction of environment. In other words, discipline is written as teaching subject or study of subject matters in a particular area. </a:t>
            </a:r>
          </a:p>
          <a:p>
            <a:r>
              <a:rPr lang="en-US" sz="1800" smtClean="0">
                <a:solidFill>
                  <a:srgbClr val="0070C0"/>
                </a:solidFill>
                <a:latin typeface="Times New Roman" pitchFamily="18" charset="0"/>
                <a:cs typeface="Times New Roman" pitchFamily="18" charset="0"/>
              </a:rPr>
              <a:t>There are some major aspects of education as a discipline:</a:t>
            </a:r>
          </a:p>
          <a:p>
            <a:pPr lvl="0">
              <a:buNone/>
            </a:pPr>
            <a:r>
              <a:rPr lang="en-US" sz="1800" smtClean="0">
                <a:latin typeface="Times New Roman" pitchFamily="18" charset="0"/>
                <a:cs typeface="Times New Roman" pitchFamily="18" charset="0"/>
              </a:rPr>
              <a:t>	1. Education as a transmission tradition. It also explains transfer of learning through formal or non-formal way in the family and their elders for happiness of their life and spiritually feel enlightens.</a:t>
            </a:r>
          </a:p>
          <a:p>
            <a:pPr lvl="0">
              <a:buNone/>
            </a:pPr>
            <a:r>
              <a:rPr lang="en-US" sz="1800" smtClean="0">
                <a:latin typeface="Times New Roman" pitchFamily="18" charset="0"/>
                <a:cs typeface="Times New Roman" pitchFamily="18" charset="0"/>
              </a:rPr>
              <a:t>	2. Education as a development philosophy-   In the field of education, there were developed various kinds of ideas or notions that are set up in the form of systematic thinking such as Idealism, Naturalism, pragmatism, realism, progressivism and existentialism. They are freely developed in regarding to the religious and social aims of education according to the notions of philosopher in education.</a:t>
            </a:r>
          </a:p>
          <a:p>
            <a:pPr lvl="0">
              <a:buNone/>
            </a:pPr>
            <a:r>
              <a:rPr lang="en-US" sz="1800" smtClean="0">
                <a:latin typeface="Times New Roman" pitchFamily="18" charset="0"/>
                <a:cs typeface="Times New Roman" pitchFamily="18" charset="0"/>
              </a:rPr>
              <a:t>	3. Development of school/ system as formal education,</a:t>
            </a:r>
          </a:p>
          <a:p>
            <a:pPr lvl="0">
              <a:buNone/>
            </a:pPr>
            <a:r>
              <a:rPr lang="en-US" sz="1800" smtClean="0">
                <a:latin typeface="Times New Roman" pitchFamily="18" charset="0"/>
                <a:cs typeface="Times New Roman" pitchFamily="18" charset="0"/>
              </a:rPr>
              <a:t>	4. Education as a science. 5. Development of new thinking and research in education,</a:t>
            </a:r>
          </a:p>
          <a:p>
            <a:pPr lvl="0">
              <a:buNone/>
            </a:pPr>
            <a:r>
              <a:rPr lang="en-US" sz="1800" smtClean="0">
                <a:latin typeface="Times New Roman" pitchFamily="18" charset="0"/>
                <a:cs typeface="Times New Roman" pitchFamily="18" charset="0"/>
              </a:rPr>
              <a:t>	6. Education as human right, 7. Alternative thinking and practice in education development</a:t>
            </a:r>
          </a:p>
          <a:p>
            <a:pPr lvl="0">
              <a:buNone/>
            </a:pPr>
            <a:r>
              <a:rPr lang="en-US" sz="1800" smtClean="0">
                <a:latin typeface="Times New Roman" pitchFamily="18" charset="0"/>
                <a:cs typeface="Times New Roman" pitchFamily="18" charset="0"/>
              </a:rPr>
              <a:t>	8. Open learning, correspondence education, distance education are alternative thinking in education.</a:t>
            </a:r>
            <a:endParaRPr lang="en-US" sz="1800">
              <a:latin typeface="Times New Roman" pitchFamily="18" charset="0"/>
              <a:cs typeface="Times New Roman" pitchFamily="18" charset="0"/>
            </a:endParaRPr>
          </a:p>
        </p:txBody>
      </p:sp>
    </p:spTree>
  </p:cSld>
  <p:clrMapOvr>
    <a:masterClrMapping/>
  </p:clrMapOvr>
  <p:transition>
    <p:wedg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533400"/>
          </a:xfrm>
        </p:spPr>
        <p:txBody>
          <a:bodyPr/>
          <a:lstStyle/>
          <a:p>
            <a:pPr lvl="1" algn="ctr" rtl="0">
              <a:spcBef>
                <a:spcPct val="0"/>
              </a:spcBef>
            </a:pP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3200" smtClean="0">
                <a:solidFill>
                  <a:srgbClr val="FF0000"/>
                </a:solidFill>
                <a:latin typeface="Algerian" pitchFamily="82" charset="0"/>
                <a:cs typeface="Aharoni" pitchFamily="2" charset="-79"/>
              </a:rPr>
              <a:t>1.2  Summary of Meaning of </a:t>
            </a:r>
            <a:r>
              <a:rPr lang="en-US" sz="2800" smtClean="0">
                <a:solidFill>
                  <a:srgbClr val="FF0000"/>
                </a:solidFill>
                <a:latin typeface="Algerian" pitchFamily="82" charset="0"/>
                <a:cs typeface="Aharoni" pitchFamily="2" charset="-79"/>
              </a:rPr>
              <a:t>DISCIPLINE</a:t>
            </a:r>
            <a:br>
              <a:rPr lang="en-US" sz="2800" smtClean="0">
                <a:solidFill>
                  <a:srgbClr val="FF0000"/>
                </a:solidFill>
                <a:latin typeface="Algerian" pitchFamily="82" charset="0"/>
                <a:cs typeface="Aharoni" pitchFamily="2" charset="-79"/>
              </a:rPr>
            </a:br>
            <a:r>
              <a:rPr lang="en-US" smtClean="0"/>
              <a:t/>
            </a:r>
            <a:br>
              <a:rPr lang="en-US" smtClean="0"/>
            </a:br>
            <a:endParaRPr lang="en-US"/>
          </a:p>
        </p:txBody>
      </p:sp>
      <p:sp>
        <p:nvSpPr>
          <p:cNvPr id="3" name="Content Placeholder 2"/>
          <p:cNvSpPr>
            <a:spLocks noGrp="1"/>
          </p:cNvSpPr>
          <p:nvPr>
            <p:ph idx="1"/>
          </p:nvPr>
        </p:nvSpPr>
        <p:spPr>
          <a:xfrm>
            <a:off x="228600" y="609600"/>
            <a:ext cx="8686800" cy="6096000"/>
          </a:xfrm>
        </p:spPr>
        <p:txBody>
          <a:bodyPr>
            <a:noAutofit/>
          </a:bodyPr>
          <a:lstStyle/>
          <a:p>
            <a:r>
              <a:rPr lang="en-US" sz="2400" smtClean="0">
                <a:latin typeface="Times New Roman" pitchFamily="18" charset="0"/>
                <a:cs typeface="Times New Roman" pitchFamily="18" charset="0"/>
              </a:rPr>
              <a:t>A discipline in the generally accepted sense of the world means a field of study which has a well defined content and a technique of its own together with a unique system of values. It is implicit in this concept of a learned discipline that it constitutes an important part that its pursuit results in a specific enrichment of the human mind. Most of the subjects taught in universities and colleges are disciplined in this sense: The discipline of education is based on:</a:t>
            </a:r>
          </a:p>
          <a:p>
            <a:pPr lvl="0"/>
            <a:r>
              <a:rPr lang="en-US" sz="2400" smtClean="0">
                <a:latin typeface="Times New Roman" pitchFamily="18" charset="0"/>
                <a:cs typeface="Times New Roman" pitchFamily="18" charset="0"/>
              </a:rPr>
              <a:t>New innovation of education</a:t>
            </a:r>
          </a:p>
          <a:p>
            <a:pPr lvl="0"/>
            <a:r>
              <a:rPr lang="en-US" sz="2400" smtClean="0">
                <a:latin typeface="Times New Roman" pitchFamily="18" charset="0"/>
                <a:cs typeface="Times New Roman" pitchFamily="18" charset="0"/>
              </a:rPr>
              <a:t>A branch of knowledge.</a:t>
            </a:r>
          </a:p>
          <a:p>
            <a:pPr lvl="0"/>
            <a:r>
              <a:rPr lang="en-US" sz="2400" smtClean="0">
                <a:latin typeface="Times New Roman" pitchFamily="18" charset="0"/>
                <a:cs typeface="Times New Roman" pitchFamily="18" charset="0"/>
              </a:rPr>
              <a:t>Educational research</a:t>
            </a:r>
          </a:p>
          <a:p>
            <a:pPr lvl="0"/>
            <a:r>
              <a:rPr lang="en-US" sz="2400" smtClean="0">
                <a:latin typeface="Times New Roman" pitchFamily="18" charset="0"/>
                <a:cs typeface="Times New Roman" pitchFamily="18" charset="0"/>
              </a:rPr>
              <a:t>Modern thinking of education</a:t>
            </a:r>
          </a:p>
          <a:p>
            <a:pPr lvl="0"/>
            <a:r>
              <a:rPr lang="en-US" sz="2400" smtClean="0">
                <a:latin typeface="Times New Roman" pitchFamily="18" charset="0"/>
                <a:cs typeface="Times New Roman" pitchFamily="18" charset="0"/>
              </a:rPr>
              <a:t>Developed educational principles</a:t>
            </a:r>
          </a:p>
          <a:p>
            <a:pPr lvl="0"/>
            <a:r>
              <a:rPr lang="en-US" sz="2400" smtClean="0">
                <a:latin typeface="Times New Roman" pitchFamily="18" charset="0"/>
                <a:cs typeface="Times New Roman" pitchFamily="18" charset="0"/>
              </a:rPr>
              <a:t>Bringing out educational faculty</a:t>
            </a:r>
          </a:p>
          <a:p>
            <a:pPr lvl="0"/>
            <a:r>
              <a:rPr lang="en-US" sz="2400" smtClean="0">
                <a:latin typeface="Times New Roman" pitchFamily="18" charset="0"/>
                <a:cs typeface="Times New Roman" pitchFamily="18" charset="0"/>
              </a:rPr>
              <a:t>Instruction e.g. a general subject area such as psychology, linguistics etc.</a:t>
            </a:r>
          </a:p>
          <a:p>
            <a:endParaRPr lang="en-US" sz="1800">
              <a:latin typeface="Times New Roman" pitchFamily="18" charset="0"/>
              <a:cs typeface="Times New Roman" pitchFamily="18" charset="0"/>
            </a:endParaRPr>
          </a:p>
        </p:txBody>
      </p:sp>
    </p:spTree>
  </p:cSld>
  <p:clrMapOvr>
    <a:masterClrMapping/>
  </p:clrMapOvr>
  <p:transition>
    <p:wedg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1371600"/>
          </a:xfrm>
        </p:spPr>
        <p:txBody>
          <a:bodyPr/>
          <a:lstStyle/>
          <a:p>
            <a:pPr lvl="1" algn="ctr" rtl="0">
              <a:spcBef>
                <a:spcPct val="0"/>
              </a:spcBef>
            </a:pPr>
            <a:r>
              <a:rPr lang="en-US" sz="2400">
                <a:solidFill>
                  <a:srgbClr val="0070C0"/>
                </a:solidFill>
                <a:latin typeface="Aharoni" pitchFamily="2" charset="-79"/>
                <a:cs typeface="Aharoni" pitchFamily="2" charset="-79"/>
              </a:rPr>
              <a:t/>
            </a:r>
            <a:br>
              <a:rPr lang="en-US" sz="2400">
                <a:solidFill>
                  <a:srgbClr val="0070C0"/>
                </a:solidFill>
                <a:latin typeface="Aharoni" pitchFamily="2" charset="-79"/>
                <a:cs typeface="Aharoni" pitchFamily="2" charset="-79"/>
              </a:rPr>
            </a:b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2400" smtClean="0">
                <a:solidFill>
                  <a:srgbClr val="FF0000"/>
                </a:solidFill>
                <a:latin typeface="Aharoni" pitchFamily="2" charset="-79"/>
                <a:cs typeface="Aharoni" pitchFamily="2" charset="-79"/>
              </a:rPr>
              <a:t>There are five elements, which designate an area of knowledge as a distinct discipline. These areas are as follows: </a:t>
            </a:r>
            <a:r>
              <a:rPr lang="en-US" sz="2000" smtClean="0"/>
              <a:t/>
            </a:r>
            <a:br>
              <a:rPr lang="en-US" sz="2000" smtClean="0"/>
            </a:br>
            <a:r>
              <a:rPr lang="en-US" sz="3200" smtClean="0">
                <a:solidFill>
                  <a:srgbClr val="FF0000"/>
                </a:solidFill>
                <a:latin typeface="Algerian" pitchFamily="82" charset="0"/>
                <a:cs typeface="Aharoni" pitchFamily="2" charset="-79"/>
              </a:rPr>
              <a:t>  </a:t>
            </a:r>
            <a:r>
              <a:rPr lang="en-US" smtClean="0"/>
              <a:t/>
            </a:r>
            <a:br>
              <a:rPr lang="en-US" smtClean="0"/>
            </a:br>
            <a:endParaRPr lang="en-US"/>
          </a:p>
        </p:txBody>
      </p:sp>
      <p:sp>
        <p:nvSpPr>
          <p:cNvPr id="3" name="Content Placeholder 2"/>
          <p:cNvSpPr>
            <a:spLocks noGrp="1"/>
          </p:cNvSpPr>
          <p:nvPr>
            <p:ph idx="1"/>
          </p:nvPr>
        </p:nvSpPr>
        <p:spPr>
          <a:xfrm>
            <a:off x="228600" y="1371600"/>
            <a:ext cx="8686800" cy="5334000"/>
          </a:xfrm>
        </p:spPr>
        <p:txBody>
          <a:bodyPr>
            <a:noAutofit/>
          </a:bodyPr>
          <a:lstStyle/>
          <a:p>
            <a:pPr lvl="0">
              <a:buNone/>
            </a:pPr>
            <a:r>
              <a:rPr lang="en-US" b="1" i="1" smtClean="0">
                <a:latin typeface="Times New Roman" pitchFamily="18" charset="0"/>
                <a:cs typeface="Times New Roman" pitchFamily="18" charset="0"/>
              </a:rPr>
              <a:t>1. Specific origin or history</a:t>
            </a:r>
          </a:p>
          <a:p>
            <a:r>
              <a:rPr lang="en-US" smtClean="0">
                <a:latin typeface="Times New Roman" pitchFamily="18" charset="0"/>
                <a:cs typeface="Times New Roman" pitchFamily="18" charset="0"/>
              </a:rPr>
              <a:t>The stock of knowledge which is the core element of any discipline is experienced and verified over a long period of time. </a:t>
            </a:r>
          </a:p>
          <a:p>
            <a:r>
              <a:rPr lang="en-US" smtClean="0">
                <a:latin typeface="Times New Roman" pitchFamily="18" charset="0"/>
                <a:cs typeface="Times New Roman" pitchFamily="18" charset="0"/>
              </a:rPr>
              <a:t>It constitutes the history of any discipline. Every discipline such as mathematics, science has their long history. </a:t>
            </a:r>
          </a:p>
          <a:p>
            <a:r>
              <a:rPr lang="en-US" smtClean="0">
                <a:latin typeface="Times New Roman" pitchFamily="18" charset="0"/>
                <a:cs typeface="Times New Roman" pitchFamily="18" charset="0"/>
              </a:rPr>
              <a:t>Every discipline is developed on the footmarks of history. The experiences developed in historical time make a discipline rich.</a:t>
            </a:r>
          </a:p>
          <a:p>
            <a:pPr>
              <a:buNone/>
            </a:pPr>
            <a:endParaRPr lang="en-US">
              <a:latin typeface="Times New Roman" pitchFamily="18" charset="0"/>
              <a:cs typeface="Times New Roman" pitchFamily="18" charset="0"/>
            </a:endParaRPr>
          </a:p>
        </p:txBody>
      </p:sp>
    </p:spTree>
  </p:cSld>
  <p:clrMapOvr>
    <a:masterClrMapping/>
  </p:clrMapOvr>
  <p:transition>
    <p:wedg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838200"/>
          </a:xfrm>
        </p:spPr>
        <p:txBody>
          <a:bodyPr/>
          <a:lstStyle/>
          <a:p>
            <a:pPr lvl="1" algn="ctr" rtl="0">
              <a:spcBef>
                <a:spcPct val="0"/>
              </a:spcBef>
            </a:pPr>
            <a:r>
              <a:rPr lang="en-US" sz="2400">
                <a:solidFill>
                  <a:srgbClr val="0070C0"/>
                </a:solidFill>
                <a:latin typeface="Aharoni" pitchFamily="2" charset="-79"/>
                <a:cs typeface="Aharoni" pitchFamily="2" charset="-79"/>
              </a:rPr>
              <a:t/>
            </a:r>
            <a:br>
              <a:rPr lang="en-US" sz="2400">
                <a:solidFill>
                  <a:srgbClr val="0070C0"/>
                </a:solidFill>
                <a:latin typeface="Aharoni" pitchFamily="2" charset="-79"/>
                <a:cs typeface="Aharoni" pitchFamily="2" charset="-79"/>
              </a:rPr>
            </a:br>
            <a:r>
              <a:rPr lang="en-US" sz="2400" smtClean="0">
                <a:solidFill>
                  <a:srgbClr val="0070C0"/>
                </a:solidFill>
                <a:latin typeface="Aharoni" pitchFamily="2" charset="-79"/>
                <a:cs typeface="Aharoni" pitchFamily="2" charset="-79"/>
              </a:rPr>
              <a:t/>
            </a:r>
            <a:br>
              <a:rPr lang="en-US" sz="2400" smtClean="0">
                <a:solidFill>
                  <a:srgbClr val="0070C0"/>
                </a:solidFill>
                <a:latin typeface="Aharoni" pitchFamily="2" charset="-79"/>
                <a:cs typeface="Aharoni" pitchFamily="2" charset="-79"/>
              </a:rPr>
            </a:br>
            <a:r>
              <a:rPr lang="en-US" sz="2400" smtClean="0">
                <a:solidFill>
                  <a:srgbClr val="FF0000"/>
                </a:solidFill>
                <a:latin typeface="Aharoni" pitchFamily="2" charset="-79"/>
                <a:cs typeface="Aharoni" pitchFamily="2" charset="-79"/>
              </a:rPr>
              <a:t>There are five elements, which designate an area of knowledge as a distinct discipline. These areas are:</a:t>
            </a:r>
            <a:r>
              <a:rPr lang="en-US" sz="2000" smtClean="0"/>
              <a:t/>
            </a:r>
            <a:br>
              <a:rPr lang="en-US" sz="2000" smtClean="0"/>
            </a:br>
            <a:r>
              <a:rPr lang="en-US" sz="3200" smtClean="0">
                <a:solidFill>
                  <a:srgbClr val="FF0000"/>
                </a:solidFill>
                <a:latin typeface="Algerian" pitchFamily="82" charset="0"/>
                <a:cs typeface="Aharoni" pitchFamily="2" charset="-79"/>
              </a:rPr>
              <a:t>  </a:t>
            </a:r>
            <a:r>
              <a:rPr lang="en-US" smtClean="0"/>
              <a:t/>
            </a:r>
            <a:br>
              <a:rPr lang="en-US" smtClean="0"/>
            </a:br>
            <a:endParaRPr lang="en-US"/>
          </a:p>
        </p:txBody>
      </p:sp>
      <p:sp>
        <p:nvSpPr>
          <p:cNvPr id="3" name="Content Placeholder 2"/>
          <p:cNvSpPr>
            <a:spLocks noGrp="1"/>
          </p:cNvSpPr>
          <p:nvPr>
            <p:ph idx="1"/>
          </p:nvPr>
        </p:nvSpPr>
        <p:spPr>
          <a:xfrm>
            <a:off x="228600" y="990600"/>
            <a:ext cx="8686800" cy="5715000"/>
          </a:xfrm>
        </p:spPr>
        <p:txBody>
          <a:bodyPr>
            <a:noAutofit/>
          </a:bodyPr>
          <a:lstStyle/>
          <a:p>
            <a:pPr lvl="0">
              <a:buNone/>
            </a:pPr>
            <a:r>
              <a:rPr lang="en-US" sz="2000" b="1" i="1" smtClean="0">
                <a:latin typeface="Times New Roman" pitchFamily="18" charset="0"/>
                <a:cs typeface="Times New Roman" pitchFamily="18" charset="0"/>
              </a:rPr>
              <a:t>2.  Concepts, theories and principles: </a:t>
            </a:r>
            <a:r>
              <a:rPr lang="en-US" sz="2000" smtClean="0">
                <a:latin typeface="Times New Roman" pitchFamily="18" charset="0"/>
                <a:cs typeface="Times New Roman" pitchFamily="18" charset="0"/>
              </a:rPr>
              <a:t>The stock of knowledge in any discipline should be arranged in the form of concepts, theories and principles. Concepts are a generalized category of facts revealed by experiences. Theories and principles are those arrangements in which concepts are interlinked in the form of cause and effect. These all are needed to preserve the knowledge and predict the future phenomenon. There should be a stock of concepts, principles and theories in any discipline.</a:t>
            </a:r>
          </a:p>
          <a:p>
            <a:pPr lvl="0">
              <a:buNone/>
            </a:pPr>
            <a:r>
              <a:rPr lang="en-US" sz="2000" b="1" i="1" smtClean="0">
                <a:latin typeface="Times New Roman" pitchFamily="18" charset="0"/>
                <a:cs typeface="Times New Roman" pitchFamily="18" charset="0"/>
              </a:rPr>
              <a:t>3. A theoretical structure:</a:t>
            </a:r>
            <a:r>
              <a:rPr lang="en-US" sz="2000" smtClean="0">
                <a:latin typeface="Times New Roman" pitchFamily="18" charset="0"/>
                <a:cs typeface="Times New Roman" pitchFamily="18" charset="0"/>
              </a:rPr>
              <a:t> The hierarchical relationship of knowledge in the form of interrelated concepts, theories and principles constitute a theoretical structure. This theoretical structure is the main body of a discipline, which gives it a distinct existence. Every discipline should have a sound theoretical structure in which its underlying body of knowledge is interlinked in the form as an intact area of knowledge.</a:t>
            </a:r>
          </a:p>
          <a:p>
            <a:pPr lvl="0">
              <a:buNone/>
            </a:pPr>
            <a:r>
              <a:rPr lang="en-US" sz="2000" b="1" i="1" smtClean="0">
                <a:latin typeface="Times New Roman" pitchFamily="18" charset="0"/>
                <a:cs typeface="Times New Roman" pitchFamily="18" charset="0"/>
              </a:rPr>
              <a:t>4. Own research methodology:</a:t>
            </a:r>
            <a:r>
              <a:rPr lang="en-US" sz="2000" smtClean="0">
                <a:latin typeface="Times New Roman" pitchFamily="18" charset="0"/>
                <a:cs typeface="Times New Roman" pitchFamily="18" charset="0"/>
              </a:rPr>
              <a:t> Every discipline should have its own research methodology. The aim of research is theorizing or theory building. Every discipline can be made rich and the sound disciplinary base of it can be developed via research.</a:t>
            </a:r>
          </a:p>
          <a:p>
            <a:endParaRPr lang="en-US" sz="1800">
              <a:latin typeface="Times New Roman" pitchFamily="18" charset="0"/>
              <a:cs typeface="Times New Roman" pitchFamily="18" charset="0"/>
            </a:endParaRPr>
          </a:p>
        </p:txBody>
      </p:sp>
    </p:spTree>
  </p:cSld>
  <p:clrMapOvr>
    <a:masterClrMapping/>
  </p:clrMapOvr>
  <p:transition>
    <p:wedge/>
  </p:transition>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1754</Words>
  <Application>Microsoft Office PowerPoint</Application>
  <PresentationFormat>On-screen Show (4:3)</PresentationFormat>
  <Paragraphs>95</Paragraphs>
  <Slides>15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Aharoni</vt:lpstr>
      <vt:lpstr>Algerian</vt:lpstr>
      <vt:lpstr>Arial</vt:lpstr>
      <vt:lpstr>Calibri</vt:lpstr>
      <vt:lpstr>Times New Roman</vt:lpstr>
      <vt:lpstr>Wingdings</vt:lpstr>
      <vt:lpstr>Office Theme</vt:lpstr>
      <vt:lpstr> UNIT-1 EDUCATION AS A DISCIPLINE </vt:lpstr>
      <vt:lpstr> 1.1 MEANING OF EDUCATION AS A DISCIPLINE  </vt:lpstr>
      <vt:lpstr> 1.1 MEANING OF EDUCATION AS A DISCIPLINE  </vt:lpstr>
      <vt:lpstr> 1.1 MEANING OF EDUCATION AS A DISCIPLINE  </vt:lpstr>
      <vt:lpstr> 1.1 MEANING OF EDUCATION AS A DISCIPLINE  </vt:lpstr>
      <vt:lpstr> 1.1 MEANING OF EDUCATION AS A DISCIPLINE  </vt:lpstr>
      <vt:lpstr> 1.1 MEANING OF EDUCATION AS A DISCIPLINE  </vt:lpstr>
      <vt:lpstr> 1.1 MEANING OF EDUCATION AS A DISCIPLINE  </vt:lpstr>
      <vt:lpstr> 1.1 MEANING OF EDUCATION AS A DISCIPLINE  </vt:lpstr>
      <vt:lpstr> 1.1 MEANING OF EDUCATION AS A DISCIPLINE  </vt:lpstr>
      <vt:lpstr> 1.1 MEANING OF EDUCATION AS A DISCIPLINE  </vt:lpstr>
      <vt:lpstr> 1.1 MEANING OF EDUCATION AS A DISCIPLINE  </vt:lpstr>
      <vt:lpstr> 1.2  Summary of Meaning of DISCIPLINE  </vt:lpstr>
      <vt:lpstr>  There are five elements, which designate an area of knowledge as a distinct discipline. These areas are as follows:     </vt:lpstr>
      <vt:lpstr>  There are five elements, which designate an area of knowledge as a distinct discipline. These areas are: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UNIT-1 EDUCATION AS A DISCIPLINE</dc:title>
  <dc:creator>user</dc:creator>
  <cp:lastModifiedBy>Microsoft account</cp:lastModifiedBy>
  <cp:revision>19</cp:revision>
  <dcterms:created xsi:type="dcterms:W3CDTF">2006-08-16T00:00:00Z</dcterms:created>
  <dcterms:modified xsi:type="dcterms:W3CDTF">2024-12-11T14:48:08Z</dcterms:modified>
</cp:coreProperties>
</file>